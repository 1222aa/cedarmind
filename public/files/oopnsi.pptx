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  <p:sldId id="272" r:id="rId19"/>
    <p:sldId id="273" r:id="rId20"/>
    <p:sldId id="274" r:id="rId21"/>
    <p:sldId id="275" r:id="rId22"/>
    <p:sldId id="276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9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06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0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2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1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6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46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4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25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0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0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60F48-D49D-4781-8465-C42B5482DB32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27631-92F4-4D5C-86C4-1B698ADE4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2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NSI </a:t>
            </a:r>
            <a:r>
              <a:rPr lang="en-US" dirty="0" err="1" smtClean="0"/>
              <a:t>Terminale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/>
              <a:t>C</a:t>
            </a:r>
            <a:r>
              <a:rPr lang="en-US" dirty="0" err="1" smtClean="0"/>
              <a:t>ours</a:t>
            </a:r>
            <a:r>
              <a:rPr lang="en-US" dirty="0" smtClean="0"/>
              <a:t>: </a:t>
            </a:r>
            <a:r>
              <a:rPr lang="en-US" b="1" dirty="0"/>
              <a:t>Les Structures de </a:t>
            </a:r>
            <a:r>
              <a:rPr lang="en-US" b="1" dirty="0" err="1"/>
              <a:t>Données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Antoine Harfouche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51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 smtClean="0"/>
              <a:t>1)</a:t>
            </a:r>
            <a:r>
              <a:rPr lang="en-US" b="1" i="1" u="sng" dirty="0"/>
              <a:t> </a:t>
            </a:r>
            <a:r>
              <a:rPr lang="en-US" b="1" i="1" u="sng" dirty="0" err="1"/>
              <a:t>Programmation</a:t>
            </a:r>
            <a:r>
              <a:rPr lang="en-US" b="1" i="1" u="sng" dirty="0"/>
              <a:t> </a:t>
            </a:r>
            <a:r>
              <a:rPr lang="en-US" b="1" i="1" u="sng" dirty="0" err="1"/>
              <a:t>Orientée</a:t>
            </a:r>
            <a:r>
              <a:rPr lang="en-US" b="1" i="1" u="sng" dirty="0"/>
              <a:t> </a:t>
            </a:r>
            <a:r>
              <a:rPr lang="en-US" b="1" i="1" u="sng" dirty="0" smtClean="0"/>
              <a:t>Objet: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Programmation Orientée Objet (POO</a:t>
            </a:r>
            <a:r>
              <a:rPr lang="fr-FR" dirty="0" smtClean="0"/>
              <a:t>),repose </a:t>
            </a:r>
            <a:r>
              <a:rPr lang="fr-FR" dirty="0"/>
              <a:t>sur le concept d'objets, qui regroupent des données (attributs) et des méthodes (fonctions) pour interagir avec ces données</a:t>
            </a:r>
            <a:r>
              <a:rPr lang="fr-FR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25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2)Concepts </a:t>
            </a:r>
            <a:r>
              <a:rPr lang="en-US" b="1" u="sng" dirty="0"/>
              <a:t>de base de la </a:t>
            </a:r>
            <a:r>
              <a:rPr lang="en-US" b="1" u="sng" dirty="0" smtClean="0"/>
              <a:t>POO: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variables d'une classe s'appellent des </a:t>
            </a:r>
            <a:r>
              <a:rPr lang="fr-FR" b="1" dirty="0"/>
              <a:t>attributs</a:t>
            </a:r>
            <a:endParaRPr lang="fr-FR" dirty="0"/>
          </a:p>
          <a:p>
            <a:r>
              <a:rPr lang="fr-FR" dirty="0"/>
              <a:t>Les fonctions d'une classe s'appellent des </a:t>
            </a:r>
            <a:r>
              <a:rPr lang="fr-FR" b="1" dirty="0"/>
              <a:t>méthodes</a:t>
            </a:r>
            <a:endParaRPr lang="fr-FR" dirty="0"/>
          </a:p>
          <a:p>
            <a:r>
              <a:rPr lang="fr-FR" dirty="0"/>
              <a:t>Un </a:t>
            </a:r>
            <a:r>
              <a:rPr lang="fr-FR" b="1" dirty="0"/>
              <a:t>objet est une instance d'une classe</a:t>
            </a:r>
            <a:endParaRPr lang="fr-FR" dirty="0"/>
          </a:p>
          <a:p>
            <a:r>
              <a:rPr lang="fr-FR" dirty="0"/>
              <a:t>La création de l'objet s'appelle l'</a:t>
            </a:r>
            <a:r>
              <a:rPr lang="fr-FR" b="1" dirty="0"/>
              <a:t>instanciation</a:t>
            </a:r>
            <a:r>
              <a:rPr lang="fr-FR" dirty="0"/>
              <a:t> d'une classe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4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Creation </a:t>
            </a:r>
            <a:r>
              <a:rPr lang="en-US" b="1" u="sng" dirty="0" err="1" smtClean="0"/>
              <a:t>d’une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classe</a:t>
            </a:r>
            <a:r>
              <a:rPr lang="en-US" b="1" u="sng" dirty="0" smtClean="0"/>
              <a:t>:</a:t>
            </a:r>
            <a:endParaRPr lang="en-US" b="1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657" y="1573122"/>
            <a:ext cx="10876143" cy="18978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40612" y="2522047"/>
            <a:ext cx="613955" cy="326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1541417" y="2848619"/>
            <a:ext cx="13064" cy="8313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89915" y="391511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_"/>
              </a:rPr>
              <a:t>La variable self , dans les méthodes d’un objet, désigne l’objet auquel s’appliquera la méthode.</a:t>
            </a:r>
            <a:r>
              <a:rPr lang="fr-FR" b="1" dirty="0">
                <a:solidFill>
                  <a:srgbClr val="FF0000"/>
                </a:solidFill>
              </a:rPr>
              <a:t/>
            </a:r>
            <a:br>
              <a:rPr lang="fr-FR" b="1" dirty="0">
                <a:solidFill>
                  <a:srgbClr val="FF0000"/>
                </a:solidFill>
              </a:rPr>
            </a:br>
            <a:r>
              <a:rPr lang="fr-FR" b="1" dirty="0">
                <a:solidFill>
                  <a:srgbClr val="FF0000"/>
                </a:solidFill>
                <a:latin typeface="_"/>
              </a:rPr>
              <a:t>Elle représente l’objet dans la méthode en attendant qu’il soit créé</a:t>
            </a:r>
            <a:r>
              <a:rPr lang="fr-FR" b="1" dirty="0" smtClean="0">
                <a:solidFill>
                  <a:srgbClr val="FF0000"/>
                </a:solidFill>
                <a:latin typeface="_"/>
              </a:rPr>
              <a:t>.</a:t>
            </a:r>
          </a:p>
          <a:p>
            <a:r>
              <a:rPr lang="fr-FR" b="1" dirty="0">
                <a:solidFill>
                  <a:srgbClr val="FF0000"/>
                </a:solidFill>
              </a:rPr>
              <a:t>self permet d'accéder aux attributs de l'objet et d'appeler ses méthodes.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8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u="sng" dirty="0"/>
              <a:t>Création d'une instance de la classe carte :</a:t>
            </a:r>
            <a:endParaRPr lang="en-US" b="1" i="1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4925"/>
            <a:ext cx="9960663" cy="74705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2129246" y="2601975"/>
            <a:ext cx="13064" cy="8313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2777" y="3602046"/>
            <a:ext cx="851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Donc</a:t>
            </a:r>
            <a:r>
              <a:rPr lang="en-US" b="1" dirty="0" smtClean="0">
                <a:solidFill>
                  <a:srgbClr val="FF0000"/>
                </a:solidFill>
              </a:rPr>
              <a:t> carte1.valeur = 5 et carte1.couleur = </a:t>
            </a:r>
            <a:r>
              <a:rPr lang="en-US" b="1" dirty="0" err="1" smtClean="0">
                <a:solidFill>
                  <a:srgbClr val="FF0000"/>
                </a:solidFill>
              </a:rPr>
              <a:t>carreau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51978"/>
          <a:stretch/>
        </p:blipFill>
        <p:spPr>
          <a:xfrm>
            <a:off x="2226247" y="4733561"/>
            <a:ext cx="8278380" cy="4757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4764817"/>
            <a:ext cx="2534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Creation de nouvelle instance: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50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</a:rPr>
              <a:t>les </a:t>
            </a:r>
            <a:r>
              <a:rPr lang="en-US" b="1" i="1" u="sng" dirty="0" err="1">
                <a:solidFill>
                  <a:srgbClr val="FF0000"/>
                </a:solidFill>
              </a:rPr>
              <a:t>accesseurs</a:t>
            </a:r>
            <a:r>
              <a:rPr lang="en-US" b="1" i="1" u="sng" dirty="0">
                <a:solidFill>
                  <a:srgbClr val="FF0000"/>
                </a:solidFill>
              </a:rPr>
              <a:t> </a:t>
            </a:r>
            <a:r>
              <a:rPr lang="en-US" b="1" i="1" u="sng" dirty="0" err="1">
                <a:solidFill>
                  <a:srgbClr val="FF0000"/>
                </a:solidFill>
              </a:rPr>
              <a:t>ou</a:t>
            </a:r>
            <a:r>
              <a:rPr lang="en-US" b="1" i="1" u="sng" dirty="0">
                <a:solidFill>
                  <a:srgbClr val="FF0000"/>
                </a:solidFill>
              </a:rPr>
              <a:t> </a:t>
            </a:r>
            <a:r>
              <a:rPr lang="en-US" b="1" i="1" u="sng" dirty="0" smtClean="0">
                <a:solidFill>
                  <a:srgbClr val="FF0000"/>
                </a:solidFill>
              </a:rPr>
              <a:t>"</a:t>
            </a:r>
            <a:r>
              <a:rPr lang="en-US" b="1" i="1" u="sng" dirty="0">
                <a:solidFill>
                  <a:srgbClr val="FF0000"/>
                </a:solidFill>
              </a:rPr>
              <a:t> </a:t>
            </a:r>
            <a:r>
              <a:rPr lang="en-US" b="1" i="1" u="sng" dirty="0" smtClean="0">
                <a:solidFill>
                  <a:srgbClr val="FF0000"/>
                </a:solidFill>
              </a:rPr>
              <a:t>getters".</a:t>
            </a:r>
            <a:endParaRPr lang="en-US" b="1" i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5575"/>
            <a:ext cx="10515600" cy="4351338"/>
          </a:xfrm>
        </p:spPr>
        <p:txBody>
          <a:bodyPr/>
          <a:lstStyle/>
          <a:p>
            <a:r>
              <a:rPr lang="fr-FR" dirty="0"/>
              <a:t>P</a:t>
            </a:r>
            <a:r>
              <a:rPr lang="fr-FR" dirty="0" smtClean="0"/>
              <a:t>ermettent </a:t>
            </a:r>
            <a:r>
              <a:rPr lang="fr-FR" dirty="0"/>
              <a:t>d'accéder à des attributs privés de manière contrôlée, en fournissant une interface pour lire ces attributs sans permettre de les modifier directement</a:t>
            </a:r>
            <a:r>
              <a:rPr lang="fr-FR" dirty="0" smtClean="0"/>
              <a:t>.</a:t>
            </a:r>
          </a:p>
          <a:p>
            <a:endParaRPr lang="en-US" b="1" i="1" u="sn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i="1" u="sng" dirty="0" smtClean="0">
                <a:solidFill>
                  <a:srgbClr val="FF0000"/>
                </a:solidFill>
              </a:rPr>
              <a:t>getters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986" y="2291701"/>
            <a:ext cx="7561314" cy="4263823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1998617" y="3516691"/>
            <a:ext cx="2603206" cy="20622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601823" y="3516691"/>
            <a:ext cx="6135846" cy="6111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1894114" y="3822276"/>
            <a:ext cx="2469872" cy="23439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9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</a:t>
            </a:r>
            <a:br>
              <a:rPr lang="fr-F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Créer </a:t>
            </a:r>
            <a:r>
              <a:rPr lang="fr-FR" dirty="0"/>
              <a:t>deux autres méthodes permettant de récupérer la valeur de la carte et la couleur avec les "getters" (accesseurs) : </a:t>
            </a:r>
            <a:r>
              <a:rPr lang="fr-FR" dirty="0" err="1"/>
              <a:t>getCouleur</a:t>
            </a:r>
            <a:r>
              <a:rPr lang="fr-FR" dirty="0"/>
              <a:t>() et </a:t>
            </a:r>
            <a:r>
              <a:rPr lang="fr-FR" dirty="0" err="1"/>
              <a:t>getValeur</a:t>
            </a:r>
            <a:r>
              <a:rPr lang="fr-FR" dirty="0"/>
              <a:t>().</a:t>
            </a:r>
          </a:p>
          <a:p>
            <a:r>
              <a:rPr lang="fr-FR" dirty="0"/>
              <a:t>Les utiliser pour afficher : carte1 est un 10 de pique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15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FF0000"/>
                </a:solidFill>
              </a:rPr>
              <a:t>Modifications contrôlées des valeurs des attributs : les mutateurs ou "setters"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760" y="1303111"/>
            <a:ext cx="10515600" cy="4351338"/>
          </a:xfrm>
        </p:spPr>
        <p:txBody>
          <a:bodyPr/>
          <a:lstStyle/>
          <a:p>
            <a:r>
              <a:rPr lang="fr-FR" dirty="0"/>
              <a:t>permettent de contrôler et de valider les modifications des attributs privés en fournissant une interface pour les modifier de manière contrôlée</a:t>
            </a:r>
            <a:r>
              <a:rPr lang="fr-FR" dirty="0" smtClean="0"/>
              <a:t>.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 smtClean="0"/>
              <a:t>setters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550" y="2213718"/>
            <a:ext cx="7978810" cy="4378717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1515291" y="3685004"/>
            <a:ext cx="2132944" cy="103068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155371" y="4403076"/>
            <a:ext cx="1538584" cy="45630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3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Créer </a:t>
            </a:r>
            <a:r>
              <a:rPr lang="fr-FR" dirty="0"/>
              <a:t>le mutateur de l’attribut couleur sous la forme </a:t>
            </a:r>
            <a:r>
              <a:rPr lang="fr-FR" dirty="0" err="1"/>
              <a:t>setCouleur</a:t>
            </a:r>
            <a:r>
              <a:rPr lang="fr-FR" dirty="0"/>
              <a:t>(</a:t>
            </a:r>
            <a:r>
              <a:rPr lang="fr-FR" dirty="0" err="1"/>
              <a:t>self,c</a:t>
            </a:r>
            <a:r>
              <a:rPr lang="fr-FR" dirty="0"/>
              <a:t>).</a:t>
            </a:r>
          </a:p>
          <a:p>
            <a:r>
              <a:rPr lang="fr-FR" dirty="0"/>
              <a:t>Contrôler l'attribut pour qu'il puisse prendre uniquement une des 4 couleurs.</a:t>
            </a:r>
          </a:p>
          <a:p>
            <a:r>
              <a:rPr lang="fr-FR" dirty="0"/>
              <a:t>Créer une carte carte3, un Roi de </a:t>
            </a:r>
            <a:r>
              <a:rPr lang="fr-FR" dirty="0" err="1"/>
              <a:t>coeur</a:t>
            </a:r>
            <a:r>
              <a:rPr lang="fr-FR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117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 err="1" smtClean="0">
                <a:solidFill>
                  <a:srgbClr val="FF0000"/>
                </a:solidFill>
              </a:rPr>
              <a:t>Listes</a:t>
            </a:r>
            <a:r>
              <a:rPr lang="en-US" b="1" i="1" u="sng" dirty="0" smtClean="0">
                <a:solidFill>
                  <a:srgbClr val="FF0000"/>
                </a:solidFill>
              </a:rPr>
              <a:t>-Piles-Files:</a:t>
            </a:r>
            <a:br>
              <a:rPr lang="en-US" b="1" i="1" u="sng" dirty="0" smtClean="0">
                <a:solidFill>
                  <a:srgbClr val="FF0000"/>
                </a:solidFill>
              </a:rPr>
            </a:br>
            <a:r>
              <a:rPr lang="en-US" b="1" i="1" u="sng" dirty="0" smtClean="0">
                <a:solidFill>
                  <a:srgbClr val="FF0000"/>
                </a:solidFill>
              </a:rPr>
              <a:t>1)Pile</a:t>
            </a:r>
            <a:endParaRPr lang="en-US" b="1" i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informatique, une pile (en anglais </a:t>
            </a:r>
            <a:r>
              <a:rPr lang="fr-FR" dirty="0" err="1"/>
              <a:t>stack</a:t>
            </a:r>
            <a:r>
              <a:rPr lang="fr-FR" dirty="0"/>
              <a:t>) est une structure de données fondée sur le principe « dernier arrivé, premier sorti » (ou LIFO pour Last In, First Out), ce qui veut dire que les derniers éléments ajoutés à la pile seront les premiers à être récupérés</a:t>
            </a:r>
            <a:r>
              <a:rPr lang="fr-FR" dirty="0" smtClean="0"/>
              <a:t>.</a:t>
            </a:r>
          </a:p>
          <a:p>
            <a:r>
              <a:rPr lang="fr-FR" dirty="0" err="1"/>
              <a:t>Exemple:Le</a:t>
            </a:r>
            <a:r>
              <a:rPr lang="fr-FR" dirty="0"/>
              <a:t> fonctionnement est donc celui d'une pile d'assiettes : on ajoute des assiettes sur la pile, et on les récupère dans l'ordre inverse, en commençant par la dernière ajoutée.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44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91" y="375648"/>
            <a:ext cx="10515600" cy="4351338"/>
          </a:xfrm>
        </p:spPr>
        <p:txBody>
          <a:bodyPr>
            <a:normAutofit/>
          </a:bodyPr>
          <a:lstStyle/>
          <a:p>
            <a:r>
              <a:rPr lang="fr-FR" sz="3600" dirty="0"/>
              <a:t>« empiler » : ajoute un élément sur la pile (en anglais : « Push </a:t>
            </a:r>
            <a:r>
              <a:rPr lang="fr-FR" sz="3600" dirty="0" smtClean="0"/>
              <a:t>»).</a:t>
            </a:r>
          </a:p>
          <a:p>
            <a:r>
              <a:rPr lang="fr-FR" sz="3600" dirty="0" smtClean="0"/>
              <a:t> </a:t>
            </a:r>
            <a:r>
              <a:rPr lang="fr-FR" sz="3600" dirty="0"/>
              <a:t>• « dépiler » : enlève un élément de la pile et le renvoie (en anglais : « Pop »). </a:t>
            </a:r>
            <a:endParaRPr lang="fr-FR" sz="3600" dirty="0" smtClean="0"/>
          </a:p>
          <a:p>
            <a:r>
              <a:rPr lang="fr-FR" sz="3600" dirty="0" smtClean="0"/>
              <a:t>• </a:t>
            </a:r>
            <a:r>
              <a:rPr lang="fr-FR" sz="3600" dirty="0"/>
              <a:t>« vide » : renvoie vrai si la pile est vide, faux sinon. </a:t>
            </a:r>
            <a:endParaRPr lang="fr-FR" sz="3600" dirty="0" smtClean="0"/>
          </a:p>
          <a:p>
            <a:r>
              <a:rPr lang="fr-FR" sz="3600" dirty="0" smtClean="0"/>
              <a:t>• </a:t>
            </a:r>
            <a:r>
              <a:rPr lang="fr-FR" sz="3600" dirty="0"/>
              <a:t>« taille » : renvoie le nombre d'éléments dans la pile.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3311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6" y="-144326"/>
            <a:ext cx="10515600" cy="1325563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1)File: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048" y="966652"/>
            <a:ext cx="11418025" cy="5734594"/>
          </a:xfrm>
        </p:spPr>
        <p:txBody>
          <a:bodyPr>
            <a:normAutofit/>
          </a:bodyPr>
          <a:lstStyle/>
          <a:p>
            <a:r>
              <a:rPr lang="fr-FR" dirty="0"/>
              <a:t>Une file (en anglais queue) est une structure de données basée sur le principe « Premier entré, premier sorti », en anglais FIFO (First In, First Out), ce qui veut dire que les premiers éléments ajoutés à la file seront les premiers à être récupérés. Le fonctionnement ressemble à une file d'attente : les premières personnes à arriver sont les premières personnes à sortir de la file</a:t>
            </a:r>
            <a:r>
              <a:rPr lang="fr-FR" dirty="0" smtClean="0"/>
              <a:t>.</a:t>
            </a:r>
          </a:p>
          <a:p>
            <a:r>
              <a:rPr lang="fr-FR" dirty="0"/>
              <a:t>« enfiler » : ajoute un élément dans la file (en anglais : « </a:t>
            </a:r>
            <a:r>
              <a:rPr lang="fr-FR" dirty="0" err="1"/>
              <a:t>enqueue</a:t>
            </a:r>
            <a:r>
              <a:rPr lang="fr-FR" dirty="0"/>
              <a:t> </a:t>
            </a:r>
            <a:r>
              <a:rPr lang="fr-FR" dirty="0" smtClean="0"/>
              <a:t>»)</a:t>
            </a:r>
          </a:p>
          <a:p>
            <a:r>
              <a:rPr lang="fr-FR" dirty="0" smtClean="0"/>
              <a:t>. </a:t>
            </a:r>
            <a:r>
              <a:rPr lang="fr-FR" dirty="0"/>
              <a:t>• « défiler » : renvoie le prochain élément de la file, et le retire de la file (en anglais : « </a:t>
            </a:r>
            <a:r>
              <a:rPr lang="fr-FR" dirty="0" err="1"/>
              <a:t>dequeue</a:t>
            </a:r>
            <a:r>
              <a:rPr lang="fr-FR" dirty="0"/>
              <a:t> »). </a:t>
            </a:r>
            <a:endParaRPr lang="fr-FR" dirty="0" smtClean="0"/>
          </a:p>
          <a:p>
            <a:r>
              <a:rPr lang="fr-FR" dirty="0" smtClean="0"/>
              <a:t>• </a:t>
            </a:r>
            <a:r>
              <a:rPr lang="fr-FR" dirty="0"/>
              <a:t>« vide » : renvoie « vrai » si la file est vide, « faux » sinon. </a:t>
            </a:r>
            <a:endParaRPr lang="fr-FR" dirty="0" smtClean="0"/>
          </a:p>
          <a:p>
            <a:r>
              <a:rPr lang="fr-FR" dirty="0" smtClean="0"/>
              <a:t>• </a:t>
            </a:r>
            <a:r>
              <a:rPr lang="fr-FR" dirty="0"/>
              <a:t>« taille » : renvoie le nombre d'éléments dans la file.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430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 err="1" smtClean="0">
                <a:solidFill>
                  <a:srgbClr val="FF0000"/>
                </a:solidFill>
              </a:rPr>
              <a:t>Arbres</a:t>
            </a:r>
            <a:r>
              <a:rPr lang="en-US" b="1" i="1" u="sng" dirty="0" smtClean="0">
                <a:solidFill>
                  <a:srgbClr val="FF0000"/>
                </a:solidFill>
              </a:rPr>
              <a:t>:</a:t>
            </a:r>
            <a:endParaRPr lang="en-US" b="1" i="1" u="sng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6264" y="1574674"/>
            <a:ext cx="7500894" cy="439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0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189" y="129994"/>
            <a:ext cx="10515600" cy="1325563"/>
          </a:xfrm>
        </p:spPr>
        <p:txBody>
          <a:bodyPr/>
          <a:lstStyle/>
          <a:p>
            <a:r>
              <a:rPr lang="en-US" b="1" i="1" u="sng" dirty="0" smtClean="0"/>
              <a:t>Notion:</a:t>
            </a:r>
            <a:endParaRPr lang="en-US" b="1"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345474"/>
            <a:ext cx="11495314" cy="5238206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fr-FR" sz="3600" b="1" dirty="0" smtClean="0">
                <a:solidFill>
                  <a:srgbClr val="FF0000"/>
                </a:solidFill>
              </a:rPr>
              <a:t>la </a:t>
            </a:r>
            <a:r>
              <a:rPr lang="fr-FR" sz="3600" b="1" dirty="0">
                <a:solidFill>
                  <a:srgbClr val="FF0000"/>
                </a:solidFill>
              </a:rPr>
              <a:t>taille d’un arbre est son nombre de nœuds ;</a:t>
            </a:r>
          </a:p>
          <a:p>
            <a:pPr marL="742950" indent="-742950">
              <a:buFont typeface="+mj-lt"/>
              <a:buAutoNum type="arabicPeriod"/>
            </a:pPr>
            <a:r>
              <a:rPr lang="fr-FR" b="1" dirty="0">
                <a:solidFill>
                  <a:srgbClr val="FF0000"/>
                </a:solidFill>
              </a:rPr>
              <a:t>La hauteur d’un arbre est la plus grande profondeur d’une feuille de l’arbre.</a:t>
            </a:r>
            <a:r>
              <a:rPr lang="fr-FR" sz="3600" b="1" dirty="0" smtClean="0">
                <a:solidFill>
                  <a:srgbClr val="FF0000"/>
                </a:solidFill>
              </a:rPr>
              <a:t>;</a:t>
            </a:r>
            <a:r>
              <a:rPr lang="fr-FR" b="1" dirty="0" smtClean="0">
                <a:solidFill>
                  <a:srgbClr val="FF0000"/>
                </a:solidFill>
              </a:rPr>
              <a:t> en comptant le </a:t>
            </a:r>
            <a:r>
              <a:rPr lang="fr-FR" b="1" dirty="0" err="1" smtClean="0">
                <a:solidFill>
                  <a:srgbClr val="FF0000"/>
                </a:solidFill>
              </a:rPr>
              <a:t>noeud</a:t>
            </a:r>
            <a:endParaRPr lang="fr-FR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01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" y="-105138"/>
            <a:ext cx="10515600" cy="1325563"/>
          </a:xfrm>
        </p:spPr>
        <p:txBody>
          <a:bodyPr/>
          <a:lstStyle/>
          <a:p>
            <a:r>
              <a:rPr lang="en-US" b="1" u="sng" dirty="0">
                <a:solidFill>
                  <a:schemeClr val="accent5"/>
                </a:solidFill>
              </a:rPr>
              <a:t>Les </a:t>
            </a:r>
            <a:r>
              <a:rPr lang="en-US" b="1" u="sng" dirty="0" err="1">
                <a:solidFill>
                  <a:schemeClr val="accent5"/>
                </a:solidFill>
              </a:rPr>
              <a:t>Arbres</a:t>
            </a:r>
            <a:r>
              <a:rPr lang="en-US" b="1" u="sng" dirty="0">
                <a:solidFill>
                  <a:schemeClr val="accent5"/>
                </a:solidFill>
              </a:rPr>
              <a:t> </a:t>
            </a:r>
            <a:r>
              <a:rPr lang="en-US" b="1" u="sng" dirty="0" err="1">
                <a:solidFill>
                  <a:schemeClr val="accent5"/>
                </a:solidFill>
              </a:rPr>
              <a:t>binaires</a:t>
            </a:r>
            <a:r>
              <a:rPr lang="en-US" b="1" u="sng" dirty="0">
                <a:solidFill>
                  <a:schemeClr val="accent5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74" y="924288"/>
            <a:ext cx="10515600" cy="4351338"/>
          </a:xfrm>
        </p:spPr>
        <p:txBody>
          <a:bodyPr/>
          <a:lstStyle/>
          <a:p>
            <a:r>
              <a:rPr lang="fr-FR" dirty="0"/>
              <a:t>Un arbre binaire est un cas particulier d’arborescence dans laquelle chaque nœud possède au plus deux fils. La racine est reliée à deux </a:t>
            </a:r>
            <a:r>
              <a:rPr lang="fr-FR" dirty="0" err="1"/>
              <a:t>sous-arbres</a:t>
            </a:r>
            <a:r>
              <a:rPr lang="fr-FR" dirty="0"/>
              <a:t> binaires appelés respectivement </a:t>
            </a:r>
            <a:r>
              <a:rPr lang="fr-FR" dirty="0" err="1"/>
              <a:t>sous-arbre</a:t>
            </a:r>
            <a:r>
              <a:rPr lang="fr-FR" dirty="0"/>
              <a:t> gauche et </a:t>
            </a:r>
            <a:r>
              <a:rPr lang="fr-FR" dirty="0" err="1"/>
              <a:t>sous-arbre</a:t>
            </a:r>
            <a:r>
              <a:rPr lang="fr-FR" dirty="0"/>
              <a:t> droit</a:t>
            </a:r>
            <a:r>
              <a:rPr lang="fr-FR" dirty="0" smtClean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74" y="2707387"/>
            <a:ext cx="4035841" cy="359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38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>
                <a:solidFill>
                  <a:schemeClr val="accent5"/>
                </a:solidFill>
              </a:rPr>
              <a:t>Arbre</a:t>
            </a:r>
            <a:r>
              <a:rPr lang="en-US" b="1" u="sng" dirty="0">
                <a:solidFill>
                  <a:schemeClr val="accent5"/>
                </a:solidFill>
              </a:rPr>
              <a:t> </a:t>
            </a:r>
            <a:r>
              <a:rPr lang="en-US" b="1" u="sng" dirty="0" err="1">
                <a:solidFill>
                  <a:schemeClr val="accent5"/>
                </a:solidFill>
              </a:rPr>
              <a:t>binaire</a:t>
            </a:r>
            <a:r>
              <a:rPr lang="en-US" b="1" u="sng" dirty="0">
                <a:solidFill>
                  <a:schemeClr val="accent5"/>
                </a:solidFill>
              </a:rPr>
              <a:t> parfait.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un arbre binaire parfait toutes les feuilles sont à la même </a:t>
            </a:r>
            <a:r>
              <a:rPr lang="fr-FR" dirty="0" smtClean="0"/>
              <a:t>profondeur.</a:t>
            </a:r>
            <a:r>
              <a:rPr lang="fr-FR" b="1" dirty="0"/>
              <a:t> Tous les niveaux sont complètement remplis</a:t>
            </a:r>
            <a:r>
              <a:rPr lang="fr-FR" dirty="0"/>
              <a:t> </a:t>
            </a:r>
            <a:endParaRPr lang="fr-FR" dirty="0" smtClean="0"/>
          </a:p>
          <a:p>
            <a:r>
              <a:rPr lang="fr-FR" b="1" dirty="0" smtClean="0"/>
              <a:t>2^(h) </a:t>
            </a:r>
            <a:r>
              <a:rPr lang="fr-FR" b="1" dirty="0"/>
              <a:t>- 1 nœuds</a:t>
            </a:r>
            <a:r>
              <a:rPr lang="fr-FR" dirty="0"/>
              <a:t> : Si l'arbre binaire parfait a une hauteur h, il aura 2</a:t>
            </a:r>
            <a:r>
              <a:rPr lang="fr-FR" dirty="0" smtClean="0"/>
              <a:t>^(h) </a:t>
            </a:r>
            <a:r>
              <a:rPr lang="fr-FR" dirty="0"/>
              <a:t>- 1 nœuds en tout. Cela signifie que le nombre total de nœuds de l'arbre peut être calculé en utilisant la formule </a:t>
            </a:r>
            <a:r>
              <a:rPr lang="fr-FR" dirty="0" smtClean="0"/>
              <a:t>2^(h) </a:t>
            </a:r>
            <a:r>
              <a:rPr lang="fr-FR" dirty="0"/>
              <a:t>- 1, où h est la hauteur de l'arbre</a:t>
            </a:r>
            <a:r>
              <a:rPr lang="fr-FR" sz="6000" b="1" dirty="0" smtClean="0">
                <a:solidFill>
                  <a:srgbClr val="FF0000"/>
                </a:solidFill>
              </a:rPr>
              <a:t>.(</a:t>
            </a:r>
            <a:r>
              <a:rPr lang="fr-FR" sz="6000" b="1" dirty="0" err="1" smtClean="0">
                <a:solidFill>
                  <a:srgbClr val="FF0000"/>
                </a:solidFill>
              </a:rPr>
              <a:t>onhold</a:t>
            </a:r>
            <a:r>
              <a:rPr lang="fr-FR" sz="6000" b="1" dirty="0" smtClean="0">
                <a:solidFill>
                  <a:srgbClr val="FF0000"/>
                </a:solidFill>
              </a:rPr>
              <a:t>)</a:t>
            </a:r>
          </a:p>
          <a:p>
            <a:endParaRPr lang="fr-FR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662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>
                <a:solidFill>
                  <a:srgbClr val="FF0000"/>
                </a:solidFill>
              </a:rPr>
              <a:t>A</a:t>
            </a:r>
            <a:r>
              <a:rPr lang="en-US" b="1" u="sng" dirty="0" err="1" smtClean="0">
                <a:solidFill>
                  <a:srgbClr val="FF0000"/>
                </a:solidFill>
              </a:rPr>
              <a:t>rbre</a:t>
            </a:r>
            <a:r>
              <a:rPr lang="en-US" b="1" u="sng" dirty="0" smtClean="0">
                <a:solidFill>
                  <a:srgbClr val="FF0000"/>
                </a:solidFill>
              </a:rPr>
              <a:t> </a:t>
            </a:r>
            <a:r>
              <a:rPr lang="en-US" b="1" u="sng" dirty="0" err="1">
                <a:solidFill>
                  <a:srgbClr val="FF0000"/>
                </a:solidFill>
              </a:rPr>
              <a:t>binaire</a:t>
            </a:r>
            <a:r>
              <a:rPr lang="en-US" b="1" u="sng" dirty="0">
                <a:solidFill>
                  <a:srgbClr val="FF0000"/>
                </a:solidFill>
              </a:rPr>
              <a:t> </a:t>
            </a:r>
            <a:r>
              <a:rPr lang="en-US" b="1" u="sng" dirty="0" err="1" smtClean="0">
                <a:solidFill>
                  <a:srgbClr val="FF0000"/>
                </a:solidFill>
              </a:rPr>
              <a:t>complet</a:t>
            </a:r>
            <a:r>
              <a:rPr lang="en-US" b="1" u="sng" dirty="0" smtClean="0">
                <a:solidFill>
                  <a:srgbClr val="FF0000"/>
                </a:solidFill>
              </a:rPr>
              <a:t>: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Tous les niveaux, à l'exception du dernier, sont complètement remplis. </a:t>
            </a:r>
            <a:r>
              <a:rPr lang="fr-FR" dirty="0" smtClean="0"/>
              <a:t>chaque </a:t>
            </a:r>
            <a:r>
              <a:rPr lang="fr-FR" dirty="0"/>
              <a:t>niveau a le nombre maximal de nœuds </a:t>
            </a:r>
            <a:r>
              <a:rPr lang="fr-FR" dirty="0" err="1"/>
              <a:t>possible</a:t>
            </a:r>
            <a:r>
              <a:rPr lang="fr-FR" dirty="0" err="1" smtClean="0"/>
              <a:t>.</a:t>
            </a:r>
            <a:r>
              <a:rPr lang="fr-FR" dirty="0" err="1" smtClean="0">
                <a:solidFill>
                  <a:srgbClr val="FF0000"/>
                </a:solidFill>
              </a:rPr>
              <a:t>+les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>
                <a:solidFill>
                  <a:srgbClr val="FF0000"/>
                </a:solidFill>
              </a:rPr>
              <a:t>feuilles sont tassées à gauche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32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 smtClean="0">
                <a:solidFill>
                  <a:schemeClr val="accent5"/>
                </a:solidFill>
              </a:rPr>
              <a:t>PARCOURS D’UN ARBRE:</a:t>
            </a:r>
            <a:endParaRPr lang="en-US" b="1" i="1" u="sng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1)</a:t>
            </a:r>
            <a:r>
              <a:rPr lang="en-US" dirty="0"/>
              <a:t> </a:t>
            </a:r>
            <a:r>
              <a:rPr lang="en-US" dirty="0" err="1"/>
              <a:t>Parcours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largeur</a:t>
            </a:r>
            <a:endParaRPr lang="en-US" dirty="0"/>
          </a:p>
          <a:p>
            <a:r>
              <a:rPr lang="en-US" dirty="0" smtClean="0"/>
              <a:t>2)</a:t>
            </a:r>
            <a:r>
              <a:rPr lang="en-US" dirty="0"/>
              <a:t> </a:t>
            </a:r>
            <a:r>
              <a:rPr lang="en-US" dirty="0" err="1"/>
              <a:t>Parcours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profondeur</a:t>
            </a:r>
            <a:r>
              <a:rPr lang="en-US" dirty="0"/>
              <a:t> </a:t>
            </a:r>
            <a:r>
              <a:rPr lang="en-US" dirty="0" err="1"/>
              <a:t>préfixe</a:t>
            </a:r>
            <a:r>
              <a:rPr lang="en-US" dirty="0"/>
              <a:t>.</a:t>
            </a:r>
          </a:p>
          <a:p>
            <a:r>
              <a:rPr lang="en-US" dirty="0" smtClean="0"/>
              <a:t>3)</a:t>
            </a:r>
            <a:r>
              <a:rPr lang="fr-FR" dirty="0"/>
              <a:t> Parcours en profondeur suffixe ou </a:t>
            </a:r>
            <a:r>
              <a:rPr lang="fr-FR" dirty="0" err="1"/>
              <a:t>postfixe</a:t>
            </a:r>
            <a:endParaRPr lang="fr-FR" dirty="0"/>
          </a:p>
          <a:p>
            <a:r>
              <a:rPr lang="en-US" dirty="0" smtClean="0"/>
              <a:t>4)</a:t>
            </a:r>
            <a:r>
              <a:rPr lang="en-US" dirty="0"/>
              <a:t> </a:t>
            </a:r>
            <a:r>
              <a:rPr lang="en-US" dirty="0" err="1"/>
              <a:t>Parcours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profondeur</a:t>
            </a:r>
            <a:r>
              <a:rPr lang="en-US" dirty="0"/>
              <a:t> </a:t>
            </a:r>
            <a:r>
              <a:rPr lang="en-US" dirty="0" err="1"/>
              <a:t>infixe</a:t>
            </a:r>
            <a:r>
              <a:rPr lang="en-US" dirty="0"/>
              <a:t>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0236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chemeClr val="accent5"/>
                </a:solidFill>
              </a:rPr>
              <a:t>1)</a:t>
            </a:r>
            <a:r>
              <a:rPr lang="en-US" b="1" u="sng" dirty="0">
                <a:solidFill>
                  <a:schemeClr val="accent5"/>
                </a:solidFill>
              </a:rPr>
              <a:t> </a:t>
            </a:r>
            <a:r>
              <a:rPr lang="en-US" b="1" u="sng" dirty="0" err="1">
                <a:solidFill>
                  <a:schemeClr val="accent5"/>
                </a:solidFill>
              </a:rPr>
              <a:t>Parcours</a:t>
            </a:r>
            <a:r>
              <a:rPr lang="en-US" b="1" u="sng" dirty="0">
                <a:solidFill>
                  <a:schemeClr val="accent5"/>
                </a:solidFill>
              </a:rPr>
              <a:t> </a:t>
            </a:r>
            <a:r>
              <a:rPr lang="en-US" b="1" u="sng" dirty="0" err="1">
                <a:solidFill>
                  <a:schemeClr val="accent5"/>
                </a:solidFill>
              </a:rPr>
              <a:t>en</a:t>
            </a:r>
            <a:r>
              <a:rPr lang="en-US" b="1" u="sng" dirty="0">
                <a:solidFill>
                  <a:schemeClr val="accent5"/>
                </a:solidFill>
              </a:rPr>
              <a:t> </a:t>
            </a:r>
            <a:r>
              <a:rPr lang="en-US" b="1" u="sng" dirty="0" err="1">
                <a:solidFill>
                  <a:schemeClr val="accent5"/>
                </a:solidFill>
              </a:rPr>
              <a:t>largeur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829" y="1328618"/>
            <a:ext cx="4891732" cy="50703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91200" y="2008555"/>
            <a:ext cx="604374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E9EBFC"/>
                </a:solidFill>
                <a:latin typeface="_"/>
              </a:rPr>
              <a:t> </a:t>
            </a:r>
            <a:r>
              <a:rPr lang="fr-FR" b="1" dirty="0">
                <a:solidFill>
                  <a:srgbClr val="FF0000"/>
                </a:solidFill>
                <a:latin typeface="_"/>
              </a:rPr>
              <a:t>on va d’abord visiter la racine, puis les nœuds à la profondeur 1, puis 2, etc</a:t>
            </a:r>
            <a:r>
              <a:rPr lang="fr-FR" b="1" dirty="0" smtClean="0">
                <a:solidFill>
                  <a:srgbClr val="FF0000"/>
                </a:solidFill>
                <a:latin typeface="_"/>
              </a:rPr>
              <a:t>.</a:t>
            </a:r>
          </a:p>
          <a:p>
            <a:endParaRPr lang="fr-FR" b="1" dirty="0">
              <a:solidFill>
                <a:srgbClr val="FF0000"/>
              </a:solidFill>
              <a:latin typeface="_"/>
            </a:endParaRPr>
          </a:p>
          <a:p>
            <a:r>
              <a:rPr lang="fr-FR" dirty="0">
                <a:solidFill>
                  <a:srgbClr val="FF0000"/>
                </a:solidFill>
              </a:rPr>
              <a:t>Dans ce cas, l’ordre de visite des nœuds serait le suivant : A B G C F H I D E </a:t>
            </a:r>
            <a:r>
              <a:rPr lang="fr-FR" dirty="0" err="1">
                <a:solidFill>
                  <a:srgbClr val="FF0000"/>
                </a:solidFill>
              </a:rPr>
              <a:t>E</a:t>
            </a:r>
            <a:r>
              <a:rPr lang="fr-FR" dirty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32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 err="1">
                <a:solidFill>
                  <a:srgbClr val="FF0000"/>
                </a:solidFill>
              </a:rPr>
              <a:t>Parcours</a:t>
            </a:r>
            <a:r>
              <a:rPr lang="en-US" b="1" i="1" u="sng" dirty="0">
                <a:solidFill>
                  <a:srgbClr val="FF0000"/>
                </a:solidFill>
              </a:rPr>
              <a:t> </a:t>
            </a:r>
            <a:r>
              <a:rPr lang="en-US" b="1" i="1" u="sng" dirty="0" err="1">
                <a:solidFill>
                  <a:srgbClr val="FF0000"/>
                </a:solidFill>
              </a:rPr>
              <a:t>en</a:t>
            </a:r>
            <a:r>
              <a:rPr lang="en-US" b="1" i="1" u="sng" dirty="0">
                <a:solidFill>
                  <a:srgbClr val="FF0000"/>
                </a:solidFill>
              </a:rPr>
              <a:t> </a:t>
            </a:r>
            <a:r>
              <a:rPr lang="en-US" b="1" i="1" u="sng" dirty="0" err="1">
                <a:solidFill>
                  <a:srgbClr val="FF0000"/>
                </a:solidFill>
              </a:rPr>
              <a:t>profondeur</a:t>
            </a:r>
            <a:r>
              <a:rPr lang="en-US" b="1" i="1" u="sng" dirty="0">
                <a:solidFill>
                  <a:srgbClr val="FF0000"/>
                </a:solidFill>
              </a:rPr>
              <a:t> </a:t>
            </a:r>
            <a:r>
              <a:rPr lang="en-US" b="1" i="1" u="sng" dirty="0" err="1">
                <a:solidFill>
                  <a:srgbClr val="FF0000"/>
                </a:solidFill>
              </a:rPr>
              <a:t>préfixe</a:t>
            </a:r>
            <a:r>
              <a:rPr lang="en-US" b="1" i="1" u="sng" dirty="0">
                <a:solidFill>
                  <a:srgbClr val="FF0000"/>
                </a:solidFill>
              </a:rPr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011" y="1423180"/>
            <a:ext cx="4679334" cy="446375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97346" y="1812612"/>
            <a:ext cx="64632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_"/>
              </a:rPr>
              <a:t>Ce parcours visite le nœud courant puis ses fils gauche et droit, l’ordre de visite est : A B C D E F G H I.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30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Parcours en profondeur suffixe ou </a:t>
            </a:r>
            <a:r>
              <a:rPr lang="fr-FR" b="1" u="sng" dirty="0" err="1">
                <a:solidFill>
                  <a:srgbClr val="FF0000"/>
                </a:solidFill>
              </a:rPr>
              <a:t>postfixe</a:t>
            </a:r>
            <a:r>
              <a:rPr lang="fr-FR" b="1" dirty="0">
                <a:solidFill>
                  <a:srgbClr val="FF0000"/>
                </a:solidFill>
              </a:rPr>
              <a:t/>
            </a:r>
            <a:br>
              <a:rPr lang="fr-FR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906" y="1965008"/>
            <a:ext cx="4936547" cy="45141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86696" y="1965008"/>
            <a:ext cx="65053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_"/>
              </a:rPr>
              <a:t>Ce parcours visite d’abord les fils gauche et droit puis le nœud courant, l’ordre de visite est : D E C F B H I G A.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53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u="sng" dirty="0" err="1">
                <a:solidFill>
                  <a:srgbClr val="FF0000"/>
                </a:solidFill>
              </a:rPr>
              <a:t>Parcours</a:t>
            </a:r>
            <a:r>
              <a:rPr lang="en-US" b="1" u="sng" dirty="0">
                <a:solidFill>
                  <a:srgbClr val="FF0000"/>
                </a:solidFill>
              </a:rPr>
              <a:t> </a:t>
            </a:r>
            <a:r>
              <a:rPr lang="en-US" b="1" u="sng" dirty="0" err="1">
                <a:solidFill>
                  <a:srgbClr val="FF0000"/>
                </a:solidFill>
              </a:rPr>
              <a:t>en</a:t>
            </a:r>
            <a:r>
              <a:rPr lang="en-US" b="1" u="sng" dirty="0">
                <a:solidFill>
                  <a:srgbClr val="FF0000"/>
                </a:solidFill>
              </a:rPr>
              <a:t> </a:t>
            </a:r>
            <a:r>
              <a:rPr lang="en-US" b="1" u="sng" dirty="0" err="1">
                <a:solidFill>
                  <a:srgbClr val="FF0000"/>
                </a:solidFill>
              </a:rPr>
              <a:t>profondeur</a:t>
            </a:r>
            <a:r>
              <a:rPr lang="en-US" b="1" u="sng" dirty="0">
                <a:solidFill>
                  <a:srgbClr val="FF0000"/>
                </a:solidFill>
              </a:rPr>
              <a:t> </a:t>
            </a:r>
            <a:r>
              <a:rPr lang="en-US" b="1" u="sng" dirty="0" err="1">
                <a:solidFill>
                  <a:srgbClr val="FF0000"/>
                </a:solidFill>
              </a:rPr>
              <a:t>infixe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205" y="1500080"/>
            <a:ext cx="5020338" cy="44829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86543" y="1550183"/>
            <a:ext cx="69146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_"/>
              </a:rPr>
              <a:t>Ce parcours visite d’abord le fils gauche, le nœud courant, puis le droit, l’ordre de visite est : D C E B F A H G I.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25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3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862</Words>
  <Application>Microsoft Office PowerPoint</Application>
  <PresentationFormat>Widescreen</PresentationFormat>
  <Paragraphs>72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_</vt:lpstr>
      <vt:lpstr>Arial</vt:lpstr>
      <vt:lpstr>Calibri</vt:lpstr>
      <vt:lpstr>Calibri Light</vt:lpstr>
      <vt:lpstr>Office Theme</vt:lpstr>
      <vt:lpstr>NSI Terminale Cours: Les Structures de Données </vt:lpstr>
      <vt:lpstr>1) Programmation Orientée Objet: </vt:lpstr>
      <vt:lpstr>2)Concepts de base de la POO: </vt:lpstr>
      <vt:lpstr>Creation d’une classe:</vt:lpstr>
      <vt:lpstr>Création d'une instance de la classe carte :</vt:lpstr>
      <vt:lpstr>les accesseurs ou " getters".</vt:lpstr>
      <vt:lpstr>Exercice  </vt:lpstr>
      <vt:lpstr>Modifications contrôlées des valeurs des attributs : les mutateurs ou "setters" </vt:lpstr>
      <vt:lpstr>Exercice 2</vt:lpstr>
      <vt:lpstr>Listes-Piles-Files: 1)Pile</vt:lpstr>
      <vt:lpstr>PowerPoint Presentation</vt:lpstr>
      <vt:lpstr>1)File:</vt:lpstr>
      <vt:lpstr>Arbres:</vt:lpstr>
      <vt:lpstr>Notion:</vt:lpstr>
      <vt:lpstr>Les Arbres binaires.</vt:lpstr>
      <vt:lpstr>Arbre binaire parfait. </vt:lpstr>
      <vt:lpstr>Arbre binaire complet:</vt:lpstr>
      <vt:lpstr>PARCOURS D’UN ARBRE:</vt:lpstr>
      <vt:lpstr>1) Parcours en largeur </vt:lpstr>
      <vt:lpstr>Parcours en profondeur préfixe. </vt:lpstr>
      <vt:lpstr>Parcours en profondeur suffixe ou postfixe </vt:lpstr>
      <vt:lpstr> Parcours en profondeur infixe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NSI Terminale Cours: Les Structures de Données</dc:title>
  <dc:creator>HARFOUCHE</dc:creator>
  <cp:lastModifiedBy>HARFOUCHE</cp:lastModifiedBy>
  <cp:revision>14</cp:revision>
  <dcterms:created xsi:type="dcterms:W3CDTF">2023-10-24T15:06:31Z</dcterms:created>
  <dcterms:modified xsi:type="dcterms:W3CDTF">2023-10-25T14:38:11Z</dcterms:modified>
</cp:coreProperties>
</file>