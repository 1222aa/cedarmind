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fr-F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fr-FR"/>
          </a:p>
        </p:txBody>
      </p:sp>
      <p:sp>
        <p:nvSpPr>
          <p:cNvPr id="4" name="Date Placeholder 3"/>
          <p:cNvSpPr>
            <a:spLocks noGrp="1"/>
          </p:cNvSpPr>
          <p:nvPr>
            <p:ph type="dt" sz="half" idx="10"/>
          </p:nvPr>
        </p:nvSpPr>
        <p:spPr/>
        <p:txBody>
          <a:bodyPr/>
          <a:lstStyle/>
          <a:p>
            <a:fld id="{0F2E2925-2212-45C5-A784-13F2C239AE4B}" type="datetimeFigureOut">
              <a:rPr lang="fr-FR" smtClean="0"/>
              <a:t>24/02/2024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925196C-FF71-4153-969C-2E6D4F3012BD}" type="slidenum">
              <a:rPr lang="fr-FR" smtClean="0"/>
              <a:t>‹#›</a:t>
            </a:fld>
            <a:endParaRPr lang="fr-FR"/>
          </a:p>
        </p:txBody>
      </p:sp>
    </p:spTree>
    <p:extLst>
      <p:ext uri="{BB962C8B-B14F-4D97-AF65-F5344CB8AC3E}">
        <p14:creationId xmlns:p14="http://schemas.microsoft.com/office/powerpoint/2010/main" val="1697199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0F2E2925-2212-45C5-A784-13F2C239AE4B}" type="datetimeFigureOut">
              <a:rPr lang="fr-FR" smtClean="0"/>
              <a:t>24/02/2024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925196C-FF71-4153-969C-2E6D4F3012BD}" type="slidenum">
              <a:rPr lang="fr-FR" smtClean="0"/>
              <a:t>‹#›</a:t>
            </a:fld>
            <a:endParaRPr lang="fr-FR"/>
          </a:p>
        </p:txBody>
      </p:sp>
    </p:spTree>
    <p:extLst>
      <p:ext uri="{BB962C8B-B14F-4D97-AF65-F5344CB8AC3E}">
        <p14:creationId xmlns:p14="http://schemas.microsoft.com/office/powerpoint/2010/main" val="2539722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fr-F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F2E2925-2212-45C5-A784-13F2C239AE4B}" type="datetimeFigureOut">
              <a:rPr lang="fr-FR" smtClean="0"/>
              <a:t>24/02/2024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925196C-FF71-4153-969C-2E6D4F3012BD}" type="slidenum">
              <a:rPr lang="fr-FR" smtClean="0"/>
              <a:t>‹#›</a:t>
            </a:fld>
            <a:endParaRPr lang="fr-FR"/>
          </a:p>
        </p:txBody>
      </p:sp>
    </p:spTree>
    <p:extLst>
      <p:ext uri="{BB962C8B-B14F-4D97-AF65-F5344CB8AC3E}">
        <p14:creationId xmlns:p14="http://schemas.microsoft.com/office/powerpoint/2010/main" val="298573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Date Placeholder 4"/>
          <p:cNvSpPr>
            <a:spLocks noGrp="1"/>
          </p:cNvSpPr>
          <p:nvPr>
            <p:ph type="dt" sz="half" idx="10"/>
          </p:nvPr>
        </p:nvSpPr>
        <p:spPr/>
        <p:txBody>
          <a:bodyPr/>
          <a:lstStyle/>
          <a:p>
            <a:fld id="{0F2E2925-2212-45C5-A784-13F2C239AE4B}" type="datetimeFigureOut">
              <a:rPr lang="fr-FR" smtClean="0"/>
              <a:t>24/02/2024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925196C-FF71-4153-969C-2E6D4F3012BD}" type="slidenum">
              <a:rPr lang="fr-FR" smtClean="0"/>
              <a:t>‹#›</a:t>
            </a:fld>
            <a:endParaRPr lang="fr-FR"/>
          </a:p>
        </p:txBody>
      </p:sp>
    </p:spTree>
    <p:extLst>
      <p:ext uri="{BB962C8B-B14F-4D97-AF65-F5344CB8AC3E}">
        <p14:creationId xmlns:p14="http://schemas.microsoft.com/office/powerpoint/2010/main" val="822601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7" name="Date Placeholder 6"/>
          <p:cNvSpPr>
            <a:spLocks noGrp="1"/>
          </p:cNvSpPr>
          <p:nvPr>
            <p:ph type="dt" sz="half" idx="10"/>
          </p:nvPr>
        </p:nvSpPr>
        <p:spPr/>
        <p:txBody>
          <a:bodyPr/>
          <a:lstStyle/>
          <a:p>
            <a:fld id="{0F2E2925-2212-45C5-A784-13F2C239AE4B}" type="datetimeFigureOut">
              <a:rPr lang="fr-FR" smtClean="0"/>
              <a:t>24/02/2024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925196C-FF71-4153-969C-2E6D4F3012BD}" type="slidenum">
              <a:rPr lang="fr-FR" smtClean="0"/>
              <a:t>‹#›</a:t>
            </a:fld>
            <a:endParaRPr lang="fr-FR"/>
          </a:p>
        </p:txBody>
      </p:sp>
    </p:spTree>
    <p:extLst>
      <p:ext uri="{BB962C8B-B14F-4D97-AF65-F5344CB8AC3E}">
        <p14:creationId xmlns:p14="http://schemas.microsoft.com/office/powerpoint/2010/main" val="211248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Date Placeholder 2"/>
          <p:cNvSpPr>
            <a:spLocks noGrp="1"/>
          </p:cNvSpPr>
          <p:nvPr>
            <p:ph type="dt" sz="half" idx="10"/>
          </p:nvPr>
        </p:nvSpPr>
        <p:spPr/>
        <p:txBody>
          <a:bodyPr/>
          <a:lstStyle/>
          <a:p>
            <a:fld id="{0F2E2925-2212-45C5-A784-13F2C239AE4B}" type="datetimeFigureOut">
              <a:rPr lang="fr-FR" smtClean="0"/>
              <a:t>24/02/2024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925196C-FF71-4153-969C-2E6D4F3012BD}" type="slidenum">
              <a:rPr lang="fr-FR" smtClean="0"/>
              <a:t>‹#›</a:t>
            </a:fld>
            <a:endParaRPr lang="fr-FR"/>
          </a:p>
        </p:txBody>
      </p:sp>
    </p:spTree>
    <p:extLst>
      <p:ext uri="{BB962C8B-B14F-4D97-AF65-F5344CB8AC3E}">
        <p14:creationId xmlns:p14="http://schemas.microsoft.com/office/powerpoint/2010/main" val="1220601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2E2925-2212-45C5-A784-13F2C239AE4B}" type="datetimeFigureOut">
              <a:rPr lang="fr-FR" smtClean="0"/>
              <a:t>24/02/2024</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5925196C-FF71-4153-969C-2E6D4F3012BD}" type="slidenum">
              <a:rPr lang="fr-FR" smtClean="0"/>
              <a:t>‹#›</a:t>
            </a:fld>
            <a:endParaRPr lang="fr-FR"/>
          </a:p>
        </p:txBody>
      </p:sp>
    </p:spTree>
    <p:extLst>
      <p:ext uri="{BB962C8B-B14F-4D97-AF65-F5344CB8AC3E}">
        <p14:creationId xmlns:p14="http://schemas.microsoft.com/office/powerpoint/2010/main" val="2791978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F2E2925-2212-45C5-A784-13F2C239AE4B}" type="datetimeFigureOut">
              <a:rPr lang="fr-FR" smtClean="0"/>
              <a:t>24/02/2024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925196C-FF71-4153-969C-2E6D4F3012BD}" type="slidenum">
              <a:rPr lang="fr-FR" smtClean="0"/>
              <a:t>‹#›</a:t>
            </a:fld>
            <a:endParaRPr lang="fr-FR"/>
          </a:p>
        </p:txBody>
      </p:sp>
    </p:spTree>
    <p:extLst>
      <p:ext uri="{BB962C8B-B14F-4D97-AF65-F5344CB8AC3E}">
        <p14:creationId xmlns:p14="http://schemas.microsoft.com/office/powerpoint/2010/main" val="2774278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F2E2925-2212-45C5-A784-13F2C239AE4B}" type="datetimeFigureOut">
              <a:rPr lang="fr-FR" smtClean="0"/>
              <a:t>24/02/2024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925196C-FF71-4153-969C-2E6D4F3012BD}" type="slidenum">
              <a:rPr lang="fr-FR" smtClean="0"/>
              <a:t>‹#›</a:t>
            </a:fld>
            <a:endParaRPr lang="fr-FR"/>
          </a:p>
        </p:txBody>
      </p:sp>
    </p:spTree>
    <p:extLst>
      <p:ext uri="{BB962C8B-B14F-4D97-AF65-F5344CB8AC3E}">
        <p14:creationId xmlns:p14="http://schemas.microsoft.com/office/powerpoint/2010/main" val="4246847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0F2E2925-2212-45C5-A784-13F2C239AE4B}" type="datetimeFigureOut">
              <a:rPr lang="fr-FR" smtClean="0"/>
              <a:t>24/02/2024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925196C-FF71-4153-969C-2E6D4F3012BD}" type="slidenum">
              <a:rPr lang="fr-FR" smtClean="0"/>
              <a:t>‹#›</a:t>
            </a:fld>
            <a:endParaRPr lang="fr-FR"/>
          </a:p>
        </p:txBody>
      </p:sp>
    </p:spTree>
    <p:extLst>
      <p:ext uri="{BB962C8B-B14F-4D97-AF65-F5344CB8AC3E}">
        <p14:creationId xmlns:p14="http://schemas.microsoft.com/office/powerpoint/2010/main" val="414642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10"/>
          </p:nvPr>
        </p:nvSpPr>
        <p:spPr/>
        <p:txBody>
          <a:bodyPr/>
          <a:lstStyle/>
          <a:p>
            <a:fld id="{0F2E2925-2212-45C5-A784-13F2C239AE4B}" type="datetimeFigureOut">
              <a:rPr lang="fr-FR" smtClean="0"/>
              <a:t>24/02/2024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925196C-FF71-4153-969C-2E6D4F3012BD}" type="slidenum">
              <a:rPr lang="fr-FR" smtClean="0"/>
              <a:t>‹#›</a:t>
            </a:fld>
            <a:endParaRPr lang="fr-FR"/>
          </a:p>
        </p:txBody>
      </p:sp>
    </p:spTree>
    <p:extLst>
      <p:ext uri="{BB962C8B-B14F-4D97-AF65-F5344CB8AC3E}">
        <p14:creationId xmlns:p14="http://schemas.microsoft.com/office/powerpoint/2010/main" val="56210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2E2925-2212-45C5-A784-13F2C239AE4B}" type="datetimeFigureOut">
              <a:rPr lang="fr-FR" smtClean="0"/>
              <a:t>24/02/2024</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25196C-FF71-4153-969C-2E6D4F3012BD}" type="slidenum">
              <a:rPr lang="fr-FR" smtClean="0"/>
              <a:t>‹#›</a:t>
            </a:fld>
            <a:endParaRPr lang="fr-FR"/>
          </a:p>
        </p:txBody>
      </p:sp>
    </p:spTree>
    <p:extLst>
      <p:ext uri="{BB962C8B-B14F-4D97-AF65-F5344CB8AC3E}">
        <p14:creationId xmlns:p14="http://schemas.microsoft.com/office/powerpoint/2010/main" val="2687063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0491" y="1214438"/>
            <a:ext cx="9144000" cy="2387600"/>
          </a:xfrm>
        </p:spPr>
        <p:txBody>
          <a:bodyPr/>
          <a:lstStyle/>
          <a:p>
            <a:r>
              <a:rPr lang="fr-FR" b="1" dirty="0" smtClean="0">
                <a:solidFill>
                  <a:schemeClr val="bg1"/>
                </a:solidFill>
              </a:rPr>
              <a:t>NSI</a:t>
            </a:r>
            <a:br>
              <a:rPr lang="fr-FR" b="1" dirty="0" smtClean="0">
                <a:solidFill>
                  <a:schemeClr val="bg1"/>
                </a:solidFill>
              </a:rPr>
            </a:br>
            <a:r>
              <a:rPr lang="fr-FR" b="1" dirty="0" smtClean="0">
                <a:solidFill>
                  <a:schemeClr val="bg1"/>
                </a:solidFill>
              </a:rPr>
              <a:t>Réseaux</a:t>
            </a:r>
            <a:endParaRPr lang="fr-FR" b="1" dirty="0">
              <a:solidFill>
                <a:schemeClr val="bg1"/>
              </a:solidFill>
            </a:endParaRPr>
          </a:p>
        </p:txBody>
      </p:sp>
      <p:sp>
        <p:nvSpPr>
          <p:cNvPr id="3" name="Subtitle 2"/>
          <p:cNvSpPr>
            <a:spLocks noGrp="1"/>
          </p:cNvSpPr>
          <p:nvPr>
            <p:ph type="subTitle" idx="1"/>
          </p:nvPr>
        </p:nvSpPr>
        <p:spPr>
          <a:xfrm>
            <a:off x="1210491" y="3602038"/>
            <a:ext cx="9144000" cy="1655762"/>
          </a:xfrm>
        </p:spPr>
        <p:txBody>
          <a:bodyPr/>
          <a:lstStyle/>
          <a:p>
            <a:r>
              <a:rPr lang="fr-FR" dirty="0" smtClean="0">
                <a:solidFill>
                  <a:schemeClr val="bg1"/>
                </a:solidFill>
              </a:rPr>
              <a:t>Antoine </a:t>
            </a:r>
            <a:r>
              <a:rPr lang="fr-FR" dirty="0" err="1" smtClean="0">
                <a:solidFill>
                  <a:schemeClr val="bg1"/>
                </a:solidFill>
              </a:rPr>
              <a:t>Harfouche</a:t>
            </a:r>
            <a:endParaRPr lang="fr-FR" dirty="0">
              <a:solidFill>
                <a:schemeClr val="bg1"/>
              </a:solidFill>
            </a:endParaRPr>
          </a:p>
        </p:txBody>
      </p:sp>
    </p:spTree>
    <p:extLst>
      <p:ext uri="{BB962C8B-B14F-4D97-AF65-F5344CB8AC3E}">
        <p14:creationId xmlns:p14="http://schemas.microsoft.com/office/powerpoint/2010/main" val="42239174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1" u="sng" dirty="0" smtClean="0">
                <a:solidFill>
                  <a:schemeClr val="bg1"/>
                </a:solidFill>
              </a:rPr>
              <a:t>1) </a:t>
            </a:r>
            <a:r>
              <a:rPr lang="fr-FR" b="1" i="1" u="sng" dirty="0" smtClean="0">
                <a:solidFill>
                  <a:schemeClr val="bg1"/>
                </a:solidFill>
              </a:rPr>
              <a:t>La couche Internet</a:t>
            </a:r>
            <a:br>
              <a:rPr lang="fr-FR" b="1" i="1" u="sng" dirty="0" smtClean="0">
                <a:solidFill>
                  <a:schemeClr val="bg1"/>
                </a:solidFill>
              </a:rPr>
            </a:br>
            <a:r>
              <a:rPr lang="fr-FR" b="1" dirty="0" smtClean="0">
                <a:solidFill>
                  <a:schemeClr val="bg1"/>
                </a:solidFill>
              </a:rPr>
              <a:t>    </a:t>
            </a:r>
            <a:r>
              <a:rPr lang="fr-FR" b="1" u="sng" dirty="0" smtClean="0">
                <a:solidFill>
                  <a:srgbClr val="FF0000"/>
                </a:solidFill>
              </a:rPr>
              <a:t>a)IP(INTERNET PROTOCOL)</a:t>
            </a:r>
            <a:endParaRPr lang="fr-FR" b="1" u="sng" dirty="0">
              <a:solidFill>
                <a:srgbClr val="FF0000"/>
              </a:solidFill>
            </a:endParaRPr>
          </a:p>
        </p:txBody>
      </p:sp>
      <p:sp>
        <p:nvSpPr>
          <p:cNvPr id="3" name="Content Placeholder 2"/>
          <p:cNvSpPr>
            <a:spLocks noGrp="1"/>
          </p:cNvSpPr>
          <p:nvPr>
            <p:ph idx="1"/>
          </p:nvPr>
        </p:nvSpPr>
        <p:spPr/>
        <p:txBody>
          <a:bodyPr>
            <a:normAutofit/>
          </a:bodyPr>
          <a:lstStyle/>
          <a:p>
            <a:endParaRPr lang="fr-FR" dirty="0" smtClean="0"/>
          </a:p>
          <a:p>
            <a:pPr marL="0" indent="0">
              <a:buNone/>
            </a:pPr>
            <a:r>
              <a:rPr lang="fr-FR" dirty="0" smtClean="0">
                <a:solidFill>
                  <a:schemeClr val="bg1"/>
                </a:solidFill>
              </a:rPr>
              <a:t>→ Pour fonctionner, ce protocole se base sur une notion clé : l'adresse IP de l'interface réseau des machines.</a:t>
            </a:r>
          </a:p>
          <a:p>
            <a:r>
              <a:rPr lang="fr-FR" dirty="0" smtClean="0">
                <a:solidFill>
                  <a:schemeClr val="bg1"/>
                </a:solidFill>
              </a:rPr>
              <a:t>Selon le réseau où chaque machine va se trouver, son adresse ne sera pas la même. Elle est affectée par l'administrateur réseau. Ce n'est donc pas une adresse &lt;&lt; à vie »&gt; telle que c'est le cas pour l'adresse MAC. Cette adresse est constituée de 4 octets dans la version v4 du protocole IP. On la formalise généralement en séparant la valeur de chacun des octets par un point.</a:t>
            </a:r>
          </a:p>
          <a:p>
            <a:r>
              <a:rPr lang="fr-FR" dirty="0" smtClean="0">
                <a:solidFill>
                  <a:schemeClr val="bg1"/>
                </a:solidFill>
              </a:rPr>
              <a:t>Exemple: 192.168.43.151.</a:t>
            </a:r>
            <a:endParaRPr lang="fr-FR" dirty="0">
              <a:solidFill>
                <a:schemeClr val="bg1"/>
              </a:solidFill>
            </a:endParaRPr>
          </a:p>
        </p:txBody>
      </p:sp>
    </p:spTree>
    <p:extLst>
      <p:ext uri="{BB962C8B-B14F-4D97-AF65-F5344CB8AC3E}">
        <p14:creationId xmlns:p14="http://schemas.microsoft.com/office/powerpoint/2010/main" val="16462297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1" u="sng" dirty="0" smtClean="0">
                <a:solidFill>
                  <a:srgbClr val="FF0000"/>
                </a:solidFill>
              </a:rPr>
              <a:t>b)TYPES D’ADRESSES</a:t>
            </a:r>
            <a:endParaRPr lang="fr-FR" b="1" u="sng" dirty="0">
              <a:solidFill>
                <a:srgbClr val="FF0000"/>
              </a:solidFill>
            </a:endParaRPr>
          </a:p>
        </p:txBody>
      </p:sp>
      <p:sp>
        <p:nvSpPr>
          <p:cNvPr id="3" name="Content Placeholder 2"/>
          <p:cNvSpPr>
            <a:spLocks noGrp="1"/>
          </p:cNvSpPr>
          <p:nvPr>
            <p:ph idx="1"/>
          </p:nvPr>
        </p:nvSpPr>
        <p:spPr>
          <a:xfrm>
            <a:off x="496389" y="1463040"/>
            <a:ext cx="10857411" cy="4713923"/>
          </a:xfrm>
        </p:spPr>
        <p:txBody>
          <a:bodyPr>
            <a:normAutofit fontScale="77500" lnSpcReduction="20000"/>
          </a:bodyPr>
          <a:lstStyle/>
          <a:p>
            <a:endParaRPr lang="fr-FR" dirty="0" smtClean="0"/>
          </a:p>
          <a:p>
            <a:r>
              <a:rPr lang="fr-FR" b="1" u="sng" dirty="0" smtClean="0">
                <a:solidFill>
                  <a:srgbClr val="FF0000"/>
                </a:solidFill>
              </a:rPr>
              <a:t>Adresse privée </a:t>
            </a:r>
            <a:r>
              <a:rPr lang="fr-FR" dirty="0" smtClean="0">
                <a:solidFill>
                  <a:schemeClr val="bg1"/>
                </a:solidFill>
              </a:rPr>
              <a:t>: comme son nom l'indique, une telle adresse sert uniquement dans les réseaux privés, mais pas sur internet. Elle permet aux machines de communiquer localement. Par conséquent, deux machines peuvent détenir la même adresse IP, à condition qu'elles se situent sur deux réseaux privés distincts. Pour permettre à une machine dotée d'une adresse privée d'accéder à Internet, une traduction de son adresse privée en adresse publique est nécessaire. C'est le mécanisme NAT (Network Adresse Translation) qui assure cette fonction. Ce mécanisme de traduction d'adresse réseau est actif sur les équipements qui sont à la frontière entre les réseaux privés et les réseaux publics, nommés passerelles ou routeurs (</a:t>
            </a:r>
            <a:r>
              <a:rPr lang="fr-FR" dirty="0" err="1" smtClean="0">
                <a:solidFill>
                  <a:srgbClr val="FF0000"/>
                </a:solidFill>
              </a:rPr>
              <a:t>gateway</a:t>
            </a:r>
            <a:r>
              <a:rPr lang="fr-FR" dirty="0" smtClean="0">
                <a:solidFill>
                  <a:schemeClr val="bg1"/>
                </a:solidFill>
              </a:rPr>
              <a:t> en anglais). </a:t>
            </a:r>
          </a:p>
          <a:p>
            <a:r>
              <a:rPr lang="fr-FR" b="1" u="sng" dirty="0" smtClean="0">
                <a:solidFill>
                  <a:srgbClr val="FF0000"/>
                </a:solidFill>
              </a:rPr>
              <a:t>Adresse publique </a:t>
            </a:r>
            <a:r>
              <a:rPr lang="fr-FR" dirty="0" smtClean="0">
                <a:solidFill>
                  <a:schemeClr val="bg1"/>
                </a:solidFill>
              </a:rPr>
              <a:t>: une telle adresse est attribuée aux machines connectées sur Internet. Ce sont les fournisseurs d'accès à internet (FAI) qui sont autorisés à affecter des adresses publiques, uniques au niveau mondial. L'essor constant d'Internet et du nombre de machines connectées conduit actuellement à une pénurie d'adresses Ipv4, ces dernières permettant de connecter &lt;&lt; seulement » 4 milliards d'appareils. Un nouveau protocole appelé Ipv6 propose de coder les adresses sur 16 octets.</a:t>
            </a:r>
          </a:p>
          <a:p>
            <a:r>
              <a:rPr lang="fr-FR" dirty="0" smtClean="0">
                <a:solidFill>
                  <a:schemeClr val="bg1"/>
                </a:solidFill>
              </a:rPr>
              <a:t>Exemple d'adresse IPv6: 2018:0db8:0000:85a7:0000:0000:ac1f:8901</a:t>
            </a:r>
            <a:endParaRPr lang="fr-FR" dirty="0">
              <a:solidFill>
                <a:schemeClr val="bg1"/>
              </a:solidFill>
            </a:endParaRPr>
          </a:p>
        </p:txBody>
      </p:sp>
    </p:spTree>
    <p:extLst>
      <p:ext uri="{BB962C8B-B14F-4D97-AF65-F5344CB8AC3E}">
        <p14:creationId xmlns:p14="http://schemas.microsoft.com/office/powerpoint/2010/main" val="19341919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1" u="sng" dirty="0" smtClean="0">
                <a:solidFill>
                  <a:srgbClr val="FF0000"/>
                </a:solidFill>
              </a:rPr>
              <a:t>c)Les passerelles </a:t>
            </a:r>
            <a:r>
              <a:rPr lang="fr-FR" b="1" u="sng" dirty="0" err="1" smtClean="0">
                <a:solidFill>
                  <a:srgbClr val="FF0000"/>
                </a:solidFill>
              </a:rPr>
              <a:t>gateway</a:t>
            </a:r>
            <a:r>
              <a:rPr lang="fr-FR" b="1" u="sng" dirty="0" smtClean="0">
                <a:solidFill>
                  <a:srgbClr val="FF0000"/>
                </a:solidFill>
              </a:rPr>
              <a:t>:</a:t>
            </a:r>
            <a:endParaRPr lang="fr-FR" b="1" u="sng" dirty="0">
              <a:solidFill>
                <a:srgbClr val="FF0000"/>
              </a:solidFill>
            </a:endParaRPr>
          </a:p>
        </p:txBody>
      </p:sp>
      <p:sp>
        <p:nvSpPr>
          <p:cNvPr id="3" name="Content Placeholder 2"/>
          <p:cNvSpPr>
            <a:spLocks noGrp="1"/>
          </p:cNvSpPr>
          <p:nvPr>
            <p:ph idx="1"/>
          </p:nvPr>
        </p:nvSpPr>
        <p:spPr>
          <a:xfrm>
            <a:off x="838200" y="1604827"/>
            <a:ext cx="10515600" cy="4351338"/>
          </a:xfrm>
        </p:spPr>
        <p:txBody>
          <a:bodyPr>
            <a:normAutofit lnSpcReduction="10000"/>
          </a:bodyPr>
          <a:lstStyle/>
          <a:p>
            <a:endParaRPr lang="fr-FR" dirty="0" smtClean="0"/>
          </a:p>
          <a:p>
            <a:r>
              <a:rPr lang="fr-FR" dirty="0" smtClean="0">
                <a:solidFill>
                  <a:schemeClr val="bg1"/>
                </a:solidFill>
              </a:rPr>
              <a:t>Un équipement qui veut émettre vers un autre connaît sa propre adresse IP ainsi que celle de son destinataire. Sachant que ces deux adresses permettent d'identifier le réseau auquel leur propriétaire appartient, il est alors possible de savoir si la communication a lieu au sein d'un même réseau local ou pas. </a:t>
            </a:r>
          </a:p>
          <a:p>
            <a:r>
              <a:rPr lang="fr-FR" dirty="0" smtClean="0">
                <a:solidFill>
                  <a:srgbClr val="FF0000"/>
                </a:solidFill>
              </a:rPr>
              <a:t>En effet, si les réseaux identifiés dans les deux adresses sont différents, alors les équipements ne sont pas connectés au même réseau local.</a:t>
            </a:r>
          </a:p>
          <a:p>
            <a:r>
              <a:rPr lang="fr-FR" dirty="0" smtClean="0">
                <a:solidFill>
                  <a:srgbClr val="FF0000"/>
                </a:solidFill>
              </a:rPr>
              <a:t>→ L'équipement qui veut joindre un destinataire qui se trouve dans un autre réseau local doit alors s'adresser à une passerelle</a:t>
            </a:r>
            <a:r>
              <a:rPr lang="fr-FR" dirty="0" smtClean="0">
                <a:solidFill>
                  <a:schemeClr val="bg1"/>
                </a:solidFill>
              </a:rPr>
              <a:t>.</a:t>
            </a:r>
            <a:endParaRPr lang="fr-FR" dirty="0">
              <a:solidFill>
                <a:schemeClr val="bg1"/>
              </a:solidFill>
            </a:endParaRPr>
          </a:p>
        </p:txBody>
      </p:sp>
    </p:spTree>
    <p:extLst>
      <p:ext uri="{BB962C8B-B14F-4D97-AF65-F5344CB8AC3E}">
        <p14:creationId xmlns:p14="http://schemas.microsoft.com/office/powerpoint/2010/main" val="5488244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r-FR"/>
          </a:p>
        </p:txBody>
      </p:sp>
      <p:sp>
        <p:nvSpPr>
          <p:cNvPr id="3" name="Content Placeholder 2"/>
          <p:cNvSpPr>
            <a:spLocks noGrp="1"/>
          </p:cNvSpPr>
          <p:nvPr>
            <p:ph idx="1"/>
          </p:nvPr>
        </p:nvSpPr>
        <p:spPr/>
        <p:txBody>
          <a:bodyPr/>
          <a:lstStyle/>
          <a:p>
            <a:endParaRPr lang="fr-FR"/>
          </a:p>
        </p:txBody>
      </p:sp>
    </p:spTree>
    <p:extLst>
      <p:ext uri="{BB962C8B-B14F-4D97-AF65-F5344CB8AC3E}">
        <p14:creationId xmlns:p14="http://schemas.microsoft.com/office/powerpoint/2010/main" val="4270543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1" u="sng" dirty="0" smtClean="0">
                <a:solidFill>
                  <a:srgbClr val="FF0000"/>
                </a:solidFill>
              </a:rPr>
              <a:t>d)Les paquets IP:</a:t>
            </a:r>
            <a:endParaRPr lang="fr-FR" b="1" u="sng" dirty="0">
              <a:solidFill>
                <a:srgbClr val="FF0000"/>
              </a:solidFill>
            </a:endParaRPr>
          </a:p>
        </p:txBody>
      </p:sp>
      <p:sp>
        <p:nvSpPr>
          <p:cNvPr id="3" name="Content Placeholder 2"/>
          <p:cNvSpPr>
            <a:spLocks noGrp="1"/>
          </p:cNvSpPr>
          <p:nvPr>
            <p:ph idx="1"/>
          </p:nvPr>
        </p:nvSpPr>
        <p:spPr/>
        <p:txBody>
          <a:bodyPr/>
          <a:lstStyle/>
          <a:p>
            <a:endParaRPr lang="fr-FR" dirty="0" smtClean="0"/>
          </a:p>
          <a:p>
            <a:r>
              <a:rPr lang="fr-FR" dirty="0">
                <a:solidFill>
                  <a:schemeClr val="bg1"/>
                </a:solidFill>
              </a:rPr>
              <a:t>S</a:t>
            </a:r>
            <a:r>
              <a:rPr lang="fr-FR" dirty="0" smtClean="0">
                <a:solidFill>
                  <a:schemeClr val="bg1"/>
                </a:solidFill>
              </a:rPr>
              <a:t>ur la base des adresses IP des machines les données sont acheminées, via les passerelles, vers le réseau local de leur destinataire. Il est donc nécessaire de coder des adresses dans le message à transmettre (un peu comme un courrier qui contient à la fois l'adresse sur l'enveloppe et le message à l'intérieur).</a:t>
            </a:r>
          </a:p>
        </p:txBody>
      </p:sp>
      <p:pic>
        <p:nvPicPr>
          <p:cNvPr id="4" name="Picture 3"/>
          <p:cNvPicPr>
            <a:picLocks noChangeAspect="1"/>
          </p:cNvPicPr>
          <p:nvPr/>
        </p:nvPicPr>
        <p:blipFill>
          <a:blip r:embed="rId2"/>
          <a:stretch>
            <a:fillRect/>
          </a:stretch>
        </p:blipFill>
        <p:spPr>
          <a:xfrm>
            <a:off x="2667000" y="4721814"/>
            <a:ext cx="6858000" cy="1228725"/>
          </a:xfrm>
          <a:prstGeom prst="rect">
            <a:avLst/>
          </a:prstGeom>
        </p:spPr>
      </p:pic>
    </p:spTree>
    <p:extLst>
      <p:ext uri="{BB962C8B-B14F-4D97-AF65-F5344CB8AC3E}">
        <p14:creationId xmlns:p14="http://schemas.microsoft.com/office/powerpoint/2010/main" val="21930955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1" u="sng" dirty="0" smtClean="0">
                <a:solidFill>
                  <a:srgbClr val="FF0000"/>
                </a:solidFill>
              </a:rPr>
              <a:t>2)</a:t>
            </a:r>
            <a:r>
              <a:rPr lang="en-US" b="1" u="sng" dirty="0">
                <a:solidFill>
                  <a:srgbClr val="FF0000"/>
                </a:solidFill>
              </a:rPr>
              <a:t> </a:t>
            </a:r>
            <a:r>
              <a:rPr lang="en-US" b="1" u="sng" dirty="0" smtClean="0">
                <a:solidFill>
                  <a:srgbClr val="FF0000"/>
                </a:solidFill>
              </a:rPr>
              <a:t>Tables </a:t>
            </a:r>
            <a:r>
              <a:rPr lang="en-US" b="1" u="sng" dirty="0">
                <a:solidFill>
                  <a:srgbClr val="FF0000"/>
                </a:solidFill>
              </a:rPr>
              <a:t>de </a:t>
            </a:r>
            <a:r>
              <a:rPr lang="en-US" b="1" u="sng" dirty="0" err="1">
                <a:solidFill>
                  <a:srgbClr val="FF0000"/>
                </a:solidFill>
              </a:rPr>
              <a:t>routage</a:t>
            </a:r>
            <a:r>
              <a:rPr lang="en-US" b="1" u="sng" dirty="0">
                <a:solidFill>
                  <a:srgbClr val="FF0000"/>
                </a:solidFill>
              </a:rPr>
              <a:t>.</a:t>
            </a:r>
            <a:r>
              <a:rPr lang="en-US" b="1" dirty="0"/>
              <a:t/>
            </a:r>
            <a:br>
              <a:rPr lang="en-US" b="1" dirty="0"/>
            </a:br>
            <a:endParaRPr lang="fr-FR" dirty="0"/>
          </a:p>
        </p:txBody>
      </p:sp>
      <p:sp>
        <p:nvSpPr>
          <p:cNvPr id="3" name="Content Placeholder 2"/>
          <p:cNvSpPr>
            <a:spLocks noGrp="1"/>
          </p:cNvSpPr>
          <p:nvPr>
            <p:ph idx="1"/>
          </p:nvPr>
        </p:nvSpPr>
        <p:spPr/>
        <p:txBody>
          <a:bodyPr/>
          <a:lstStyle/>
          <a:p>
            <a:r>
              <a:rPr lang="fr-FR" dirty="0" smtClean="0">
                <a:solidFill>
                  <a:schemeClr val="bg1"/>
                </a:solidFill>
              </a:rPr>
              <a:t>Le routage permet de faire circuler des paquets à un point A vers un point B. Pour cela un routeur s’appuie sur sa "table de routage". Tout routeur possède une table de routage, c'est cette table qui contient les informations nécessaires au routeur pour envoyer le message à la bonne adresse.</a:t>
            </a:r>
          </a:p>
          <a:p>
            <a:endParaRPr lang="fr-FR" dirty="0">
              <a:solidFill>
                <a:schemeClr val="bg1"/>
              </a:solidFill>
            </a:endParaRPr>
          </a:p>
        </p:txBody>
      </p:sp>
    </p:spTree>
    <p:extLst>
      <p:ext uri="{BB962C8B-B14F-4D97-AF65-F5344CB8AC3E}">
        <p14:creationId xmlns:p14="http://schemas.microsoft.com/office/powerpoint/2010/main" val="16771429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1" u="sng" dirty="0" smtClean="0">
                <a:solidFill>
                  <a:srgbClr val="FF0000"/>
                </a:solidFill>
              </a:rPr>
              <a:t>Composition d’une table de routage.</a:t>
            </a:r>
            <a:endParaRPr lang="fr-FR" b="1" u="sng" dirty="0">
              <a:solidFill>
                <a:srgbClr val="FF0000"/>
              </a:solidFill>
            </a:endParaRPr>
          </a:p>
        </p:txBody>
      </p:sp>
      <p:sp>
        <p:nvSpPr>
          <p:cNvPr id="3" name="Content Placeholder 2"/>
          <p:cNvSpPr>
            <a:spLocks noGrp="1"/>
          </p:cNvSpPr>
          <p:nvPr>
            <p:ph idx="1"/>
          </p:nvPr>
        </p:nvSpPr>
        <p:spPr/>
        <p:txBody>
          <a:bodyPr>
            <a:normAutofit fontScale="70000" lnSpcReduction="20000"/>
          </a:bodyPr>
          <a:lstStyle/>
          <a:p>
            <a:pPr marL="0" indent="0">
              <a:buNone/>
            </a:pPr>
            <a:endParaRPr lang="fr-FR" dirty="0" smtClean="0"/>
          </a:p>
          <a:p>
            <a:pPr marL="514350" indent="-514350">
              <a:buFont typeface="+mj-lt"/>
              <a:buAutoNum type="arabicPeriod"/>
            </a:pPr>
            <a:r>
              <a:rPr lang="fr-FR" dirty="0" smtClean="0"/>
              <a:t>Le </a:t>
            </a:r>
            <a:r>
              <a:rPr lang="fr-FR" dirty="0" err="1" smtClean="0"/>
              <a:t>réseau</a:t>
            </a:r>
            <a:r>
              <a:rPr lang="fr-FR" dirty="0" smtClean="0"/>
              <a:t> destination que l’on souhaite atteindre</a:t>
            </a:r>
          </a:p>
          <a:p>
            <a:pPr marL="514350" indent="-514350">
              <a:buFont typeface="+mj-lt"/>
              <a:buAutoNum type="arabicPeriod"/>
            </a:pPr>
            <a:endParaRPr lang="fr-FR" dirty="0" smtClean="0"/>
          </a:p>
          <a:p>
            <a:pPr marL="514350" indent="-514350">
              <a:buFont typeface="+mj-lt"/>
              <a:buAutoNum type="arabicPeriod"/>
            </a:pPr>
            <a:r>
              <a:rPr lang="fr-FR" dirty="0" smtClean="0"/>
              <a:t>Le masque sous-réseau du </a:t>
            </a:r>
            <a:r>
              <a:rPr lang="fr-FR" dirty="0" err="1" smtClean="0"/>
              <a:t>réseau</a:t>
            </a:r>
            <a:r>
              <a:rPr lang="fr-FR" dirty="0" smtClean="0"/>
              <a:t> à atteindre</a:t>
            </a:r>
          </a:p>
          <a:p>
            <a:pPr marL="514350" indent="-514350">
              <a:buFont typeface="+mj-lt"/>
              <a:buAutoNum type="arabicPeriod"/>
            </a:pPr>
            <a:endParaRPr lang="fr-FR" dirty="0" smtClean="0"/>
          </a:p>
          <a:p>
            <a:pPr marL="514350" indent="-514350">
              <a:buFont typeface="+mj-lt"/>
              <a:buAutoNum type="arabicPeriod"/>
            </a:pPr>
            <a:r>
              <a:rPr lang="fr-FR" dirty="0" smtClean="0"/>
              <a:t>La passerelle à utiliser (l'IP du routeur suivant) et l'interface utilisée</a:t>
            </a:r>
          </a:p>
          <a:p>
            <a:pPr marL="514350" indent="-514350">
              <a:buFont typeface="+mj-lt"/>
              <a:buAutoNum type="arabicPeriod"/>
            </a:pPr>
            <a:endParaRPr lang="fr-FR" dirty="0" smtClean="0"/>
          </a:p>
          <a:p>
            <a:pPr marL="514350" indent="-514350">
              <a:buFont typeface="+mj-lt"/>
              <a:buAutoNum type="arabicPeriod"/>
            </a:pPr>
            <a:r>
              <a:rPr lang="fr-FR" dirty="0" smtClean="0"/>
              <a:t>La métrique(</a:t>
            </a:r>
            <a:r>
              <a:rPr lang="fr-FR" dirty="0">
                <a:solidFill>
                  <a:srgbClr val="FF0000"/>
                </a:solidFill>
              </a:rPr>
              <a:t>Dans ce cas </a:t>
            </a:r>
            <a:r>
              <a:rPr lang="fr-FR" b="1" dirty="0">
                <a:solidFill>
                  <a:srgbClr val="FF0000"/>
                </a:solidFill>
              </a:rPr>
              <a:t>le routeur va choisir le "chemin le plus court"</a:t>
            </a:r>
            <a:r>
              <a:rPr lang="fr-FR" dirty="0">
                <a:solidFill>
                  <a:srgbClr val="FF0000"/>
                </a:solidFill>
              </a:rPr>
              <a:t> et pour cela, il va utiliser une </a:t>
            </a:r>
            <a:r>
              <a:rPr lang="fr-FR" b="1" dirty="0">
                <a:solidFill>
                  <a:srgbClr val="FF0000"/>
                </a:solidFill>
              </a:rPr>
              <a:t>métrique</a:t>
            </a:r>
            <a:r>
              <a:rPr lang="fr-FR" dirty="0">
                <a:solidFill>
                  <a:srgbClr val="FF0000"/>
                </a:solidFill>
              </a:rPr>
              <a:t> : plus la valeur de la métrique est petite, plus le chemin pour atteindre le réseau est "</a:t>
            </a:r>
            <a:r>
              <a:rPr lang="fr-FR" dirty="0" smtClean="0">
                <a:solidFill>
                  <a:srgbClr val="FF0000"/>
                </a:solidFill>
              </a:rPr>
              <a:t>court,</a:t>
            </a:r>
            <a:r>
              <a:rPr lang="fr-FR" dirty="0"/>
              <a:t> </a:t>
            </a:r>
            <a:r>
              <a:rPr lang="fr-FR" dirty="0">
                <a:solidFill>
                  <a:srgbClr val="FF0000"/>
                </a:solidFill>
              </a:rPr>
              <a:t>Cette valeur est l'unité de mesure de la "distance" qui </a:t>
            </a:r>
            <a:r>
              <a:rPr lang="fr-FR" dirty="0" err="1">
                <a:solidFill>
                  <a:srgbClr val="FF0000"/>
                </a:solidFill>
              </a:rPr>
              <a:t>sépare</a:t>
            </a:r>
            <a:r>
              <a:rPr lang="fr-FR" dirty="0">
                <a:solidFill>
                  <a:srgbClr val="FF0000"/>
                </a:solidFill>
              </a:rPr>
              <a:t> un routeur d’un </a:t>
            </a:r>
            <a:r>
              <a:rPr lang="fr-FR" dirty="0" err="1">
                <a:solidFill>
                  <a:srgbClr val="FF0000"/>
                </a:solidFill>
              </a:rPr>
              <a:t>réseau</a:t>
            </a:r>
            <a:r>
              <a:rPr lang="fr-FR" dirty="0">
                <a:solidFill>
                  <a:srgbClr val="FF0000"/>
                </a:solidFill>
              </a:rPr>
              <a:t> de destination, elle représente un coût qui peut être une vitesse de transfert, un nombre de sauts ou encore un délai. Un réseau directement relié à un routeur aura une métrique de 0.</a:t>
            </a:r>
            <a:r>
              <a:rPr lang="fr-FR" dirty="0" smtClean="0"/>
              <a:t>)</a:t>
            </a:r>
          </a:p>
          <a:p>
            <a:pPr marL="514350" indent="-514350">
              <a:buFont typeface="+mj-lt"/>
              <a:buAutoNum type="arabicPeriod"/>
            </a:pPr>
            <a:r>
              <a:rPr lang="fr-FR" dirty="0" smtClean="0"/>
              <a:t>Le protocole utilisé (Voir suite).</a:t>
            </a:r>
            <a:endParaRPr lang="fr-FR" dirty="0"/>
          </a:p>
        </p:txBody>
      </p:sp>
    </p:spTree>
    <p:extLst>
      <p:ext uri="{BB962C8B-B14F-4D97-AF65-F5344CB8AC3E}">
        <p14:creationId xmlns:p14="http://schemas.microsoft.com/office/powerpoint/2010/main" val="39257721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1" u="sng" dirty="0" smtClean="0">
                <a:solidFill>
                  <a:srgbClr val="FF0000"/>
                </a:solidFill>
              </a:rPr>
              <a:t>3)</a:t>
            </a:r>
            <a:r>
              <a:rPr lang="en-US" b="1" u="sng" dirty="0">
                <a:solidFill>
                  <a:srgbClr val="FF0000"/>
                </a:solidFill>
              </a:rPr>
              <a:t> </a:t>
            </a:r>
            <a:r>
              <a:rPr lang="en-US" b="1" u="sng" dirty="0" err="1">
                <a:solidFill>
                  <a:srgbClr val="FF0000"/>
                </a:solidFill>
              </a:rPr>
              <a:t>Protocoles</a:t>
            </a:r>
            <a:r>
              <a:rPr lang="en-US" b="1" u="sng" dirty="0">
                <a:solidFill>
                  <a:srgbClr val="FF0000"/>
                </a:solidFill>
              </a:rPr>
              <a:t> de </a:t>
            </a:r>
            <a:r>
              <a:rPr lang="en-US" b="1" u="sng" dirty="0" err="1">
                <a:solidFill>
                  <a:srgbClr val="FF0000"/>
                </a:solidFill>
              </a:rPr>
              <a:t>routage</a:t>
            </a:r>
            <a:r>
              <a:rPr lang="en-US" b="1" u="sng" dirty="0">
                <a:solidFill>
                  <a:srgbClr val="FF0000"/>
                </a:solidFill>
              </a:rPr>
              <a:t>.</a:t>
            </a:r>
            <a:r>
              <a:rPr lang="en-US" b="1" dirty="0"/>
              <a:t/>
            </a:r>
            <a:br>
              <a:rPr lang="en-US" b="1" dirty="0"/>
            </a:br>
            <a:endParaRPr lang="fr-FR" dirty="0"/>
          </a:p>
        </p:txBody>
      </p:sp>
      <p:sp>
        <p:nvSpPr>
          <p:cNvPr id="3" name="Content Placeholder 2"/>
          <p:cNvSpPr>
            <a:spLocks noGrp="1"/>
          </p:cNvSpPr>
          <p:nvPr>
            <p:ph idx="1"/>
          </p:nvPr>
        </p:nvSpPr>
        <p:spPr>
          <a:xfrm>
            <a:off x="838200" y="1263922"/>
            <a:ext cx="10515600" cy="4351338"/>
          </a:xfrm>
        </p:spPr>
        <p:txBody>
          <a:bodyPr/>
          <a:lstStyle/>
          <a:p>
            <a:r>
              <a:rPr lang="fr-FR" dirty="0" smtClean="0"/>
              <a:t>Un protocole de routage est un ensemble d’algorithmes et de messages par lesquels les routeurs partagent dynamiquement leurs informations de routage. </a:t>
            </a:r>
          </a:p>
          <a:p>
            <a:r>
              <a:rPr lang="fr-FR" dirty="0" smtClean="0">
                <a:solidFill>
                  <a:srgbClr val="FFFF00"/>
                </a:solidFill>
              </a:rPr>
              <a:t>RIP(ROUTING INFORMATION PROTOCOL)</a:t>
            </a:r>
          </a:p>
          <a:p>
            <a:r>
              <a:rPr lang="fr-FR" dirty="0" smtClean="0">
                <a:solidFill>
                  <a:srgbClr val="FFFF00"/>
                </a:solidFill>
              </a:rPr>
              <a:t>OSPF(OPEN SHORTEST PATH FIRST)</a:t>
            </a:r>
            <a:endParaRPr lang="fr-FR" dirty="0">
              <a:solidFill>
                <a:srgbClr val="FFFF00"/>
              </a:solidFill>
            </a:endParaRPr>
          </a:p>
        </p:txBody>
      </p:sp>
    </p:spTree>
    <p:extLst>
      <p:ext uri="{BB962C8B-B14F-4D97-AF65-F5344CB8AC3E}">
        <p14:creationId xmlns:p14="http://schemas.microsoft.com/office/powerpoint/2010/main" val="28155262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8200" y="450467"/>
            <a:ext cx="9337766" cy="1073407"/>
          </a:xfrm>
          <a:prstGeom prst="rect">
            <a:avLst/>
          </a:prstGeom>
        </p:spPr>
      </p:pic>
      <p:sp>
        <p:nvSpPr>
          <p:cNvPr id="3" name="Content Placeholder 2"/>
          <p:cNvSpPr>
            <a:spLocks noGrp="1"/>
          </p:cNvSpPr>
          <p:nvPr>
            <p:ph idx="1"/>
          </p:nvPr>
        </p:nvSpPr>
        <p:spPr/>
        <p:txBody>
          <a:bodyPr/>
          <a:lstStyle/>
          <a:p>
            <a:pPr marL="514350" indent="-514350">
              <a:buFont typeface="+mj-lt"/>
              <a:buAutoNum type="arabicPeriod"/>
            </a:pPr>
            <a:r>
              <a:rPr lang="fr-FR" dirty="0" smtClean="0">
                <a:solidFill>
                  <a:schemeClr val="bg1"/>
                </a:solidFill>
              </a:rPr>
              <a:t>RIP est un protocole de routage à vecteur de distance</a:t>
            </a:r>
          </a:p>
          <a:p>
            <a:pPr marL="514350" indent="-514350">
              <a:buFont typeface="+mj-lt"/>
              <a:buAutoNum type="arabicPeriod"/>
            </a:pPr>
            <a:r>
              <a:rPr lang="fr-FR" dirty="0" smtClean="0">
                <a:solidFill>
                  <a:schemeClr val="bg1"/>
                </a:solidFill>
              </a:rPr>
              <a:t>Il </a:t>
            </a:r>
            <a:r>
              <a:rPr lang="fr-FR" dirty="0">
                <a:solidFill>
                  <a:schemeClr val="bg1"/>
                </a:solidFill>
              </a:rPr>
              <a:t>est utilisé pour trouver le meilleur itinéraire ou chemin de bout en bout (de la source à la destination) sur un réseau en utilisant un routage algorithme de métrique/compte de </a:t>
            </a:r>
            <a:r>
              <a:rPr lang="fr-FR" dirty="0" smtClean="0">
                <a:solidFill>
                  <a:schemeClr val="bg1"/>
                </a:solidFill>
              </a:rPr>
              <a:t>sauts</a:t>
            </a:r>
          </a:p>
          <a:p>
            <a:pPr marL="514350" indent="-514350">
              <a:buFont typeface="+mj-lt"/>
              <a:buAutoNum type="arabicPeriod"/>
            </a:pPr>
            <a:r>
              <a:rPr lang="fr-FR" dirty="0" smtClean="0">
                <a:solidFill>
                  <a:schemeClr val="bg1"/>
                </a:solidFill>
              </a:rPr>
              <a:t>Le nombre maximum de sauts autorisés pour RIP est de 15</a:t>
            </a:r>
          </a:p>
          <a:p>
            <a:pPr marL="514350" indent="-514350">
              <a:buFont typeface="+mj-lt"/>
              <a:buAutoNum type="arabicPeriod"/>
            </a:pPr>
            <a:r>
              <a:rPr lang="fr-FR" dirty="0" smtClean="0">
                <a:solidFill>
                  <a:schemeClr val="bg1"/>
                </a:solidFill>
              </a:rPr>
              <a:t>Rip est utilisé pour mettre à jour les tables de routage. Les mises à jour de routage sont échangées entre les routeurs voisins après 30 secondes.</a:t>
            </a:r>
            <a:endParaRPr lang="fr-FR" dirty="0">
              <a:solidFill>
                <a:schemeClr val="bg1"/>
              </a:solidFill>
            </a:endParaRPr>
          </a:p>
        </p:txBody>
      </p:sp>
    </p:spTree>
    <p:extLst>
      <p:ext uri="{BB962C8B-B14F-4D97-AF65-F5344CB8AC3E}">
        <p14:creationId xmlns:p14="http://schemas.microsoft.com/office/powerpoint/2010/main" val="33626264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outing Information Protocol ⋆ IpCisco"/>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67989" y="884215"/>
            <a:ext cx="7347053" cy="5372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46155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t>
            </a:r>
            <a:r>
              <a:rPr lang="en-US" b="1" u="sng" dirty="0">
                <a:solidFill>
                  <a:srgbClr val="FFFF00"/>
                </a:solidFill>
              </a:rPr>
              <a:t>Le </a:t>
            </a:r>
            <a:r>
              <a:rPr lang="en-US" b="1" u="sng" dirty="0" err="1">
                <a:solidFill>
                  <a:srgbClr val="FFFF00"/>
                </a:solidFill>
              </a:rPr>
              <a:t>protocole</a:t>
            </a:r>
            <a:r>
              <a:rPr lang="en-US" b="1" u="sng" dirty="0">
                <a:solidFill>
                  <a:srgbClr val="FFFF00"/>
                </a:solidFill>
              </a:rPr>
              <a:t> OSPF.</a:t>
            </a:r>
            <a:r>
              <a:rPr lang="en-US" b="1" dirty="0"/>
              <a:t/>
            </a:r>
            <a:br>
              <a:rPr lang="en-US" b="1" dirty="0"/>
            </a:br>
            <a:endParaRPr lang="fr-FR" dirty="0"/>
          </a:p>
        </p:txBody>
      </p:sp>
      <p:sp>
        <p:nvSpPr>
          <p:cNvPr id="3" name="Content Placeholder 2"/>
          <p:cNvSpPr>
            <a:spLocks noGrp="1"/>
          </p:cNvSpPr>
          <p:nvPr>
            <p:ph idx="1"/>
          </p:nvPr>
        </p:nvSpPr>
        <p:spPr>
          <a:xfrm>
            <a:off x="629195" y="1250859"/>
            <a:ext cx="10515600" cy="4351338"/>
          </a:xfrm>
        </p:spPr>
        <p:txBody>
          <a:bodyPr>
            <a:normAutofit fontScale="85000" lnSpcReduction="20000"/>
          </a:bodyPr>
          <a:lstStyle/>
          <a:p>
            <a:r>
              <a:rPr lang="fr-FR" dirty="0">
                <a:solidFill>
                  <a:schemeClr val="bg1"/>
                </a:solidFill>
              </a:rPr>
              <a:t>Le protocole OSPF (Open </a:t>
            </a:r>
            <a:r>
              <a:rPr lang="fr-FR" dirty="0" err="1">
                <a:solidFill>
                  <a:schemeClr val="bg1"/>
                </a:solidFill>
              </a:rPr>
              <a:t>Shortest</a:t>
            </a:r>
            <a:r>
              <a:rPr lang="fr-FR" dirty="0">
                <a:solidFill>
                  <a:schemeClr val="bg1"/>
                </a:solidFill>
              </a:rPr>
              <a:t> Path First) est de la catégorie des protocoles dits "à état de </a:t>
            </a:r>
            <a:r>
              <a:rPr lang="fr-FR" dirty="0" smtClean="0">
                <a:solidFill>
                  <a:schemeClr val="bg1"/>
                </a:solidFill>
              </a:rPr>
              <a:t>lien« </a:t>
            </a:r>
          </a:p>
          <a:p>
            <a:r>
              <a:rPr lang="fr-FR" dirty="0" smtClean="0">
                <a:solidFill>
                  <a:schemeClr val="bg1"/>
                </a:solidFill>
              </a:rPr>
              <a:t>Un </a:t>
            </a:r>
            <a:r>
              <a:rPr lang="fr-FR" dirty="0">
                <a:solidFill>
                  <a:schemeClr val="bg1"/>
                </a:solidFill>
              </a:rPr>
              <a:t>protocole à état de lien, chaque routeur aura une image complète de la topologie du réseau, ce qui leur permet d’avoir des informations complètes sur l’ensemble des routeurs et des liens dans le réseau et il est alors capable de sélectionner efficacement le meilleur chemin vers tous les autres routeurs du réseau</a:t>
            </a:r>
            <a:r>
              <a:rPr lang="fr-FR" dirty="0" smtClean="0">
                <a:solidFill>
                  <a:schemeClr val="bg1"/>
                </a:solidFill>
              </a:rPr>
              <a:t>.</a:t>
            </a:r>
          </a:p>
          <a:p>
            <a:r>
              <a:rPr lang="fr-FR" b="1" dirty="0">
                <a:solidFill>
                  <a:srgbClr val="FF0000"/>
                </a:solidFill>
              </a:rPr>
              <a:t>Chaque routeur commence par identifier ses voisins</a:t>
            </a:r>
            <a:r>
              <a:rPr lang="fr-FR" dirty="0">
                <a:solidFill>
                  <a:srgbClr val="FF0000"/>
                </a:solidFill>
              </a:rPr>
              <a:t> pour établir une "carte de voisinage" en envoyant périodiquement des messages (dits messages "HELLO") à ses voisins. Il a alors une connaissance complète des routeurs voisins et peut évaluer la qualité de chaque </a:t>
            </a:r>
            <a:r>
              <a:rPr lang="fr-FR" dirty="0" err="1">
                <a:solidFill>
                  <a:srgbClr val="FF0000"/>
                </a:solidFill>
              </a:rPr>
              <a:t>liaision</a:t>
            </a:r>
            <a:r>
              <a:rPr lang="fr-FR" dirty="0">
                <a:solidFill>
                  <a:srgbClr val="FF0000"/>
                </a:solidFill>
              </a:rPr>
              <a:t> en terme de débit ou de délai de connexion par exemple</a:t>
            </a:r>
            <a:r>
              <a:rPr lang="fr-FR" dirty="0" smtClean="0">
                <a:solidFill>
                  <a:srgbClr val="FF0000"/>
                </a:solidFill>
              </a:rPr>
              <a:t>.</a:t>
            </a:r>
          </a:p>
          <a:p>
            <a:r>
              <a:rPr lang="fr-FR" b="1" dirty="0" smtClean="0">
                <a:solidFill>
                  <a:srgbClr val="002060"/>
                </a:solidFill>
              </a:rPr>
              <a:t>applique </a:t>
            </a:r>
            <a:r>
              <a:rPr lang="fr-FR" b="1" dirty="0">
                <a:solidFill>
                  <a:srgbClr val="002060"/>
                </a:solidFill>
              </a:rPr>
              <a:t>un algorithme de recherche de plus cours chemin</a:t>
            </a:r>
            <a:r>
              <a:rPr lang="fr-FR" dirty="0">
                <a:solidFill>
                  <a:srgbClr val="002060"/>
                </a:solidFill>
              </a:rPr>
              <a:t> en fonction d'une métrique choisie : </a:t>
            </a:r>
            <a:r>
              <a:rPr lang="fr-FR" b="1" dirty="0">
                <a:solidFill>
                  <a:srgbClr val="002060"/>
                </a:solidFill>
              </a:rPr>
              <a:t>l'algorithme de </a:t>
            </a:r>
            <a:r>
              <a:rPr lang="fr-FR" b="1" dirty="0" err="1">
                <a:solidFill>
                  <a:srgbClr val="002060"/>
                </a:solidFill>
              </a:rPr>
              <a:t>Dijkstra</a:t>
            </a:r>
            <a:endParaRPr lang="fr-FR" dirty="0">
              <a:solidFill>
                <a:srgbClr val="002060"/>
              </a:solidFill>
            </a:endParaRPr>
          </a:p>
        </p:txBody>
      </p:sp>
    </p:spTree>
    <p:extLst>
      <p:ext uri="{BB962C8B-B14F-4D97-AF65-F5344CB8AC3E}">
        <p14:creationId xmlns:p14="http://schemas.microsoft.com/office/powerpoint/2010/main" val="18928611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1" dirty="0">
                <a:solidFill>
                  <a:srgbClr val="002060"/>
                </a:solidFill>
              </a:rPr>
              <a:t>l'algorithme de </a:t>
            </a:r>
            <a:r>
              <a:rPr lang="fr-FR" b="1" dirty="0" err="1">
                <a:solidFill>
                  <a:srgbClr val="002060"/>
                </a:solidFill>
              </a:rPr>
              <a:t>Dijkstra</a:t>
            </a:r>
            <a:r>
              <a:rPr lang="fr-FR" dirty="0">
                <a:solidFill>
                  <a:srgbClr val="002060"/>
                </a:solidFill>
              </a:rPr>
              <a:t/>
            </a:r>
            <a:br>
              <a:rPr lang="fr-FR" dirty="0">
                <a:solidFill>
                  <a:srgbClr val="002060"/>
                </a:solidFill>
              </a:rPr>
            </a:br>
            <a:endParaRPr lang="fr-FR" dirty="0"/>
          </a:p>
        </p:txBody>
      </p:sp>
      <p:pic>
        <p:nvPicPr>
          <p:cNvPr id="4" name="Content Placeholder 3"/>
          <p:cNvPicPr>
            <a:picLocks noGrp="1" noChangeAspect="1"/>
          </p:cNvPicPr>
          <p:nvPr>
            <p:ph idx="1"/>
          </p:nvPr>
        </p:nvPicPr>
        <p:blipFill>
          <a:blip r:embed="rId2"/>
          <a:stretch>
            <a:fillRect/>
          </a:stretch>
        </p:blipFill>
        <p:spPr>
          <a:xfrm>
            <a:off x="2603809" y="1027906"/>
            <a:ext cx="7572157" cy="5269430"/>
          </a:xfrm>
          <a:prstGeom prst="rect">
            <a:avLst/>
          </a:prstGeom>
        </p:spPr>
      </p:pic>
    </p:spTree>
    <p:extLst>
      <p:ext uri="{BB962C8B-B14F-4D97-AF65-F5344CB8AC3E}">
        <p14:creationId xmlns:p14="http://schemas.microsoft.com/office/powerpoint/2010/main" val="3755193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2440" y="101328"/>
            <a:ext cx="10515600" cy="4351338"/>
          </a:xfrm>
        </p:spPr>
        <p:txBody>
          <a:bodyPr/>
          <a:lstStyle/>
          <a:p>
            <a:r>
              <a:rPr lang="fr-FR" dirty="0">
                <a:solidFill>
                  <a:schemeClr val="bg1"/>
                </a:solidFill>
              </a:rPr>
              <a:t>OSPF, toutes les 10 ou 30 secondes (en fonction du réseau) envoie à tous ses voisins, c'est à dire les routeurs qui ont en commun avec lui une interface réseau ayant la même IP réseau, un paquet "HELLO" qui annonce sa présence à tous ses voisins. Il envoie ces paquets à une adresse "multicast" qui lui permet de joindre tous les routeurs OSPF et uniquement eux. Ces paquets permettent de découvrir les nouveaux routeurs et de détecter les pannes.</a:t>
            </a:r>
          </a:p>
        </p:txBody>
      </p:sp>
      <p:pic>
        <p:nvPicPr>
          <p:cNvPr id="4" name="Picture 3"/>
          <p:cNvPicPr>
            <a:picLocks noChangeAspect="1"/>
          </p:cNvPicPr>
          <p:nvPr/>
        </p:nvPicPr>
        <p:blipFill>
          <a:blip r:embed="rId2"/>
          <a:stretch>
            <a:fillRect/>
          </a:stretch>
        </p:blipFill>
        <p:spPr>
          <a:xfrm>
            <a:off x="3036910" y="3004185"/>
            <a:ext cx="5386659" cy="3468856"/>
          </a:xfrm>
          <a:prstGeom prst="rect">
            <a:avLst/>
          </a:prstGeom>
        </p:spPr>
      </p:pic>
    </p:spTree>
    <p:extLst>
      <p:ext uri="{BB962C8B-B14F-4D97-AF65-F5344CB8AC3E}">
        <p14:creationId xmlns:p14="http://schemas.microsoft.com/office/powerpoint/2010/main" val="41167172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19449" y="613954"/>
            <a:ext cx="9804259" cy="5536883"/>
          </a:xfrm>
          <a:prstGeom prst="rect">
            <a:avLst/>
          </a:prstGeom>
        </p:spPr>
      </p:pic>
    </p:spTree>
    <p:extLst>
      <p:ext uri="{BB962C8B-B14F-4D97-AF65-F5344CB8AC3E}">
        <p14:creationId xmlns:p14="http://schemas.microsoft.com/office/powerpoint/2010/main" val="205811985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1" dirty="0">
                <a:solidFill>
                  <a:srgbClr val="FF0000"/>
                </a:solidFill>
              </a:rPr>
              <a:t>OSPF définit 4 messages </a:t>
            </a:r>
            <a:r>
              <a:rPr lang="fr-FR" b="1" dirty="0" smtClean="0">
                <a:solidFill>
                  <a:srgbClr val="FF0000"/>
                </a:solidFill>
              </a:rPr>
              <a:t>en </a:t>
            </a:r>
            <a:r>
              <a:rPr lang="fr-FR" b="1" dirty="0">
                <a:solidFill>
                  <a:srgbClr val="FF0000"/>
                </a:solidFill>
              </a:rPr>
              <a:t>plus des HELLO </a:t>
            </a:r>
            <a:r>
              <a:rPr lang="fr-FR" b="1" dirty="0" smtClean="0">
                <a:solidFill>
                  <a:srgbClr val="FF0000"/>
                </a:solidFill>
              </a:rPr>
              <a:t>:</a:t>
            </a:r>
            <a:r>
              <a:rPr lang="fr-FR" dirty="0">
                <a:solidFill>
                  <a:srgbClr val="FF0000"/>
                </a:solidFill>
              </a:rPr>
              <a:t/>
            </a:r>
            <a:br>
              <a:rPr lang="fr-FR" dirty="0">
                <a:solidFill>
                  <a:srgbClr val="FF0000"/>
                </a:solidFill>
              </a:rPr>
            </a:br>
            <a:endParaRPr lang="fr-FR"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r>
              <a:rPr lang="fr-FR" dirty="0" smtClean="0">
                <a:solidFill>
                  <a:schemeClr val="bg1"/>
                </a:solidFill>
              </a:rPr>
              <a:t>Le </a:t>
            </a:r>
            <a:r>
              <a:rPr lang="fr-FR" dirty="0">
                <a:solidFill>
                  <a:schemeClr val="bg1"/>
                </a:solidFill>
              </a:rPr>
              <a:t>1er DBD (</a:t>
            </a:r>
            <a:r>
              <a:rPr lang="fr-FR" dirty="0" err="1">
                <a:solidFill>
                  <a:schemeClr val="bg1"/>
                </a:solidFill>
              </a:rPr>
              <a:t>Database</a:t>
            </a:r>
            <a:r>
              <a:rPr lang="fr-FR" dirty="0">
                <a:solidFill>
                  <a:schemeClr val="bg1"/>
                </a:solidFill>
              </a:rPr>
              <a:t> Description) contiennent une liste abrégée de la base de donnée du routeur expéditeur. Les routeurs destinataires vont comparer cette base avec la leur. La base doit être identique sur tous les routeurs à état de liens au sein d’une même zone pour créer une arborescence précise du réseau.</a:t>
            </a:r>
          </a:p>
          <a:p>
            <a:r>
              <a:rPr lang="fr-FR" dirty="0">
                <a:solidFill>
                  <a:schemeClr val="bg1"/>
                </a:solidFill>
              </a:rPr>
              <a:t>Si un routeur apprend l'existence (ou la panne) d'un routeur, il va envoyer une requête à l'émetteur pour en savoir plus appelée LSR (Link State </a:t>
            </a:r>
            <a:r>
              <a:rPr lang="fr-FR" dirty="0" err="1">
                <a:solidFill>
                  <a:schemeClr val="bg1"/>
                </a:solidFill>
              </a:rPr>
              <a:t>Request</a:t>
            </a:r>
            <a:r>
              <a:rPr lang="fr-FR" dirty="0">
                <a:solidFill>
                  <a:schemeClr val="bg1"/>
                </a:solidFill>
              </a:rPr>
              <a:t>).</a:t>
            </a:r>
          </a:p>
          <a:p>
            <a:r>
              <a:rPr lang="fr-FR" dirty="0">
                <a:solidFill>
                  <a:schemeClr val="bg1"/>
                </a:solidFill>
              </a:rPr>
              <a:t>Le routeur concerné lui répond alors par un paquet de mise à jour appelé LSU (Link State Update) qui contient les nouvelles informations.</a:t>
            </a:r>
          </a:p>
          <a:p>
            <a:r>
              <a:rPr lang="fr-FR" dirty="0">
                <a:solidFill>
                  <a:schemeClr val="bg1"/>
                </a:solidFill>
              </a:rPr>
              <a:t>Le routeur qui vient de recevoir un paquet LSU renvoie alors un paquet </a:t>
            </a:r>
            <a:r>
              <a:rPr lang="fr-FR" dirty="0" err="1">
                <a:solidFill>
                  <a:schemeClr val="bg1"/>
                </a:solidFill>
              </a:rPr>
              <a:t>LSAck</a:t>
            </a:r>
            <a:r>
              <a:rPr lang="fr-FR" dirty="0">
                <a:solidFill>
                  <a:schemeClr val="bg1"/>
                </a:solidFill>
              </a:rPr>
              <a:t> (Link State </a:t>
            </a:r>
            <a:r>
              <a:rPr lang="fr-FR" dirty="0" err="1">
                <a:solidFill>
                  <a:schemeClr val="bg1"/>
                </a:solidFill>
              </a:rPr>
              <a:t>Acknowledgement</a:t>
            </a:r>
            <a:r>
              <a:rPr lang="fr-FR" dirty="0">
                <a:solidFill>
                  <a:schemeClr val="bg1"/>
                </a:solidFill>
              </a:rPr>
              <a:t>) pour confirmer la réception du paquet LSU.</a:t>
            </a:r>
          </a:p>
          <a:p>
            <a:endParaRPr lang="fr-FR" dirty="0"/>
          </a:p>
        </p:txBody>
      </p:sp>
    </p:spTree>
    <p:extLst>
      <p:ext uri="{BB962C8B-B14F-4D97-AF65-F5344CB8AC3E}">
        <p14:creationId xmlns:p14="http://schemas.microsoft.com/office/powerpoint/2010/main" val="27468794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6132" y="506276"/>
            <a:ext cx="10515600" cy="4351338"/>
          </a:xfrm>
        </p:spPr>
        <p:txBody>
          <a:bodyPr/>
          <a:lstStyle/>
          <a:p>
            <a:r>
              <a:rPr lang="fr-FR" dirty="0">
                <a:solidFill>
                  <a:schemeClr val="bg1"/>
                </a:solidFill>
              </a:rPr>
              <a:t>Une fois que tous les routeurs ont reçu toute la base de données, ils peuvent déterminer les meilleures routes en utilisant l'algorithme de </a:t>
            </a:r>
            <a:r>
              <a:rPr lang="fr-FR" dirty="0" err="1">
                <a:solidFill>
                  <a:schemeClr val="bg1"/>
                </a:solidFill>
              </a:rPr>
              <a:t>Dijkstra</a:t>
            </a:r>
            <a:r>
              <a:rPr lang="fr-FR" dirty="0">
                <a:solidFill>
                  <a:schemeClr val="bg1"/>
                </a:solidFill>
              </a:rPr>
              <a:t> et contrairement au protocole RIP, cette fois, la métrique ne permet pas d'optimiser le nombre de sauts mais la qualité de ces sauts (c'est à dire maximiser le débit à travers les différentes liaisons), le nombre de sauts n'étant pas pris en compte.</a:t>
            </a:r>
          </a:p>
        </p:txBody>
      </p:sp>
      <p:pic>
        <p:nvPicPr>
          <p:cNvPr id="4" name="Picture 3"/>
          <p:cNvPicPr>
            <a:picLocks noChangeAspect="1"/>
          </p:cNvPicPr>
          <p:nvPr/>
        </p:nvPicPr>
        <p:blipFill>
          <a:blip r:embed="rId2"/>
          <a:stretch>
            <a:fillRect/>
          </a:stretch>
        </p:blipFill>
        <p:spPr>
          <a:xfrm>
            <a:off x="8742403" y="2681945"/>
            <a:ext cx="2519549" cy="3775166"/>
          </a:xfrm>
          <a:prstGeom prst="rect">
            <a:avLst/>
          </a:prstGeom>
        </p:spPr>
      </p:pic>
      <p:sp>
        <p:nvSpPr>
          <p:cNvPr id="5" name="Rectangle 4"/>
          <p:cNvSpPr/>
          <p:nvPr/>
        </p:nvSpPr>
        <p:spPr>
          <a:xfrm>
            <a:off x="2131910" y="4857614"/>
            <a:ext cx="4859583" cy="584775"/>
          </a:xfrm>
          <a:prstGeom prst="rect">
            <a:avLst/>
          </a:prstGeom>
        </p:spPr>
        <p:txBody>
          <a:bodyPr wrap="square">
            <a:spAutoFit/>
          </a:bodyPr>
          <a:lstStyle/>
          <a:p>
            <a:r>
              <a:rPr lang="pt-BR" sz="3200" dirty="0">
                <a:solidFill>
                  <a:srgbClr val="FF0000"/>
                </a:solidFill>
                <a:latin typeface="-apple-system"/>
              </a:rPr>
              <a:t>R1 - R2 - R3 - R5 - R7</a:t>
            </a:r>
            <a:endParaRPr lang="fr-FR" sz="3200" dirty="0">
              <a:solidFill>
                <a:srgbClr val="FF0000"/>
              </a:solidFill>
            </a:endParaRPr>
          </a:p>
        </p:txBody>
      </p:sp>
      <p:sp>
        <p:nvSpPr>
          <p:cNvPr id="6" name="Rectangle 5"/>
          <p:cNvSpPr/>
          <p:nvPr/>
        </p:nvSpPr>
        <p:spPr>
          <a:xfrm>
            <a:off x="1240971" y="3579223"/>
            <a:ext cx="6252553" cy="830997"/>
          </a:xfrm>
          <a:prstGeom prst="rect">
            <a:avLst/>
          </a:prstGeom>
        </p:spPr>
        <p:txBody>
          <a:bodyPr wrap="square">
            <a:spAutoFit/>
          </a:bodyPr>
          <a:lstStyle/>
          <a:p>
            <a:r>
              <a:rPr lang="fr-FR" sz="2400" dirty="0">
                <a:solidFill>
                  <a:srgbClr val="FFFF00"/>
                </a:solidFill>
                <a:latin typeface="-apple-system"/>
              </a:rPr>
              <a:t>La meilleure route pour envoyer un paquet depuis R1 jusqu'à R7 est </a:t>
            </a:r>
            <a:r>
              <a:rPr lang="fr-FR" sz="2400" dirty="0" smtClean="0">
                <a:solidFill>
                  <a:srgbClr val="FFFF00"/>
                </a:solidFill>
                <a:latin typeface="-apple-system"/>
              </a:rPr>
              <a:t>:</a:t>
            </a:r>
            <a:endParaRPr lang="fr-FR" sz="2400" dirty="0">
              <a:solidFill>
                <a:srgbClr val="FFFF00"/>
              </a:solidFill>
            </a:endParaRPr>
          </a:p>
        </p:txBody>
      </p:sp>
    </p:spTree>
    <p:extLst>
      <p:ext uri="{BB962C8B-B14F-4D97-AF65-F5344CB8AC3E}">
        <p14:creationId xmlns:p14="http://schemas.microsoft.com/office/powerpoint/2010/main" val="12812144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r-FR"/>
          </a:p>
        </p:txBody>
      </p:sp>
      <p:sp>
        <p:nvSpPr>
          <p:cNvPr id="3" name="Content Placeholder 2"/>
          <p:cNvSpPr>
            <a:spLocks noGrp="1"/>
          </p:cNvSpPr>
          <p:nvPr>
            <p:ph idx="1"/>
          </p:nvPr>
        </p:nvSpPr>
        <p:spPr/>
        <p:txBody>
          <a:bodyPr/>
          <a:lstStyle/>
          <a:p>
            <a:endParaRPr lang="fr-FR"/>
          </a:p>
        </p:txBody>
      </p:sp>
    </p:spTree>
    <p:extLst>
      <p:ext uri="{BB962C8B-B14F-4D97-AF65-F5344CB8AC3E}">
        <p14:creationId xmlns:p14="http://schemas.microsoft.com/office/powerpoint/2010/main" val="7533009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TotalTime>
  <Words>1071</Words>
  <Application>Microsoft Office PowerPoint</Application>
  <PresentationFormat>Widescreen</PresentationFormat>
  <Paragraphs>55</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-apple-system</vt:lpstr>
      <vt:lpstr>Arial</vt:lpstr>
      <vt:lpstr>Calibri</vt:lpstr>
      <vt:lpstr>Calibri Light</vt:lpstr>
      <vt:lpstr>Office Theme</vt:lpstr>
      <vt:lpstr>NSI Réseaux</vt:lpstr>
      <vt:lpstr>1) La couche Internet     a)IP(INTERNET PROTOCOL)</vt:lpstr>
      <vt:lpstr>b)TYPES D’ADRESSES</vt:lpstr>
      <vt:lpstr>c)Les passerelles gateway:</vt:lpstr>
      <vt:lpstr>PowerPoint Presentation</vt:lpstr>
      <vt:lpstr>d)Les paquets IP:</vt:lpstr>
      <vt:lpstr>2) Tables de routage. </vt:lpstr>
      <vt:lpstr>Composition d’une table de routage.</vt:lpstr>
      <vt:lpstr>3) Protocoles de routage. </vt:lpstr>
      <vt:lpstr>PowerPoint Presentation</vt:lpstr>
      <vt:lpstr>PowerPoint Presentation</vt:lpstr>
      <vt:lpstr> Le protocole OSPF. </vt:lpstr>
      <vt:lpstr>l'algorithme de Dijkstra </vt:lpstr>
      <vt:lpstr>PowerPoint Presentation</vt:lpstr>
      <vt:lpstr>PowerPoint Presentation</vt:lpstr>
      <vt:lpstr>OSPF définit 4 messages en plus des HELLO :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NSI Réseaux</dc:title>
  <dc:creator>HARFOUCHE</dc:creator>
  <cp:lastModifiedBy>HARFOUCHE</cp:lastModifiedBy>
  <cp:revision>12</cp:revision>
  <dcterms:created xsi:type="dcterms:W3CDTF">2024-02-23T21:23:22Z</dcterms:created>
  <dcterms:modified xsi:type="dcterms:W3CDTF">2024-02-24T09:00:04Z</dcterms:modified>
</cp:coreProperties>
</file>